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Montserrat SemiBold"/>
      <p:regular r:id="rId42"/>
      <p:bold r:id="rId43"/>
      <p:italic r:id="rId44"/>
      <p:boldItalic r:id="rId45"/>
    </p:embeddedFont>
    <p:embeddedFont>
      <p:font typeface="Montserrat"/>
      <p:regular r:id="rId46"/>
      <p:bold r:id="rId47"/>
      <p:italic r:id="rId48"/>
      <p:boldItalic r:id="rId49"/>
    </p:embeddedFont>
    <p:embeddedFont>
      <p:font typeface="Frank Ruhl Libre"/>
      <p:regular r:id="rId50"/>
      <p:bold r:id="rId51"/>
    </p:embeddedFont>
    <p:embeddedFont>
      <p:font typeface="Montserrat ExtraBold"/>
      <p:bold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6C4F26-F6C5-494F-8663-ECA217799EB2}">
  <a:tblStyle styleId="{5E6C4F26-F6C5-494F-8663-ECA217799E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MontserratSemiBold-regular.fntdata"/><Relationship Id="rId41" Type="http://schemas.openxmlformats.org/officeDocument/2006/relationships/slide" Target="slides/slide35.xml"/><Relationship Id="rId44" Type="http://schemas.openxmlformats.org/officeDocument/2006/relationships/font" Target="fonts/MontserratSemiBold-italic.fntdata"/><Relationship Id="rId43" Type="http://schemas.openxmlformats.org/officeDocument/2006/relationships/font" Target="fonts/MontserratSemiBold-bold.fntdata"/><Relationship Id="rId46" Type="http://schemas.openxmlformats.org/officeDocument/2006/relationships/font" Target="fonts/Montserrat-regular.fntdata"/><Relationship Id="rId45" Type="http://schemas.openxmlformats.org/officeDocument/2006/relationships/font" Target="fonts/Montserrat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-italic.fntdata"/><Relationship Id="rId47" Type="http://schemas.openxmlformats.org/officeDocument/2006/relationships/font" Target="fonts/Montserrat-bold.fntdata"/><Relationship Id="rId49" Type="http://schemas.openxmlformats.org/officeDocument/2006/relationships/font" Target="fonts/Montserra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FrankRuhlLibre-bold.fntdata"/><Relationship Id="rId50" Type="http://schemas.openxmlformats.org/officeDocument/2006/relationships/font" Target="fonts/FrankRuhlLibre-regular.fntdata"/><Relationship Id="rId53" Type="http://schemas.openxmlformats.org/officeDocument/2006/relationships/font" Target="fonts/MontserratExtraBold-boldItalic.fntdata"/><Relationship Id="rId52" Type="http://schemas.openxmlformats.org/officeDocument/2006/relationships/font" Target="fonts/MontserratExtraBold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806743487f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806743487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8d21c9d85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8d21c9d8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06743487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06743487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848ef263fc_9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848ef263fc_9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48ef263fc_28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48ef263fc_2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48ef263fc_28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48ef263fc_28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48ef263fc_28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48ef263fc_28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48ef263fc_28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48ef263fc_28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48ef263fc_28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48ef263fc_28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848ef263fc_28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848ef263fc_28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848ef263fc_28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848ef263fc_28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848ef263fc_28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848ef263fc_28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848ef263fc_28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848ef263fc_28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48ef263fc_28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848ef263fc_28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48ef263fc_28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848ef263fc_28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48ef263fc_28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48ef263fc_28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848ef263fc_28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848ef263fc_28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848ef263fc_28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848ef263fc_28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848ef263fc_28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848ef263fc_28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48ef263fc_28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48ef263fc_28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48ef263fc_28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848ef263fc_28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848ef263fc_28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848ef263fc_28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848ef263fc_28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848ef263fc_28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848ef263fc_28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848ef263fc_28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848ef263fc_28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848ef263fc_28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848ef263fc_28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848ef263fc_28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848ef263fc_28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848ef263fc_28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848ef263fc_28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3848ef263fc_28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848ef263fc_28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848ef263fc_28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848ef263fc_28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848ef263fc_28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848ef263fc_28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848ef263fc_28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g3848ef263fc_28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7" name="Google Shape;447;g3848ef263fc_28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848ef263fc_28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848ef263fc_28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848ef263fc_28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848ef263fc_28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jp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5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rgbClr val="220337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_1_1_1">
    <p:bg>
      <p:bgPr>
        <a:solidFill>
          <a:srgbClr val="220337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 b="367" l="308" r="327" t="357"/>
          <a:stretch/>
        </p:blipFill>
        <p:spPr>
          <a:xfrm>
            <a:off x="0" y="250"/>
            <a:ext cx="9143997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w York University logo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92100" lvl="1" marL="914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92100" lvl="2" marL="1371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92100" lvl="3" marL="1828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92100" lvl="4" marL="22860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2100" lvl="5" marL="27432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indent="-292100" lvl="6" marL="32004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●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indent="-292100" lvl="7" marL="36576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○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indent="-292100" lvl="8" marL="411480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Montserrat SemiBold"/>
              <a:buChar char="■"/>
              <a:defRPr sz="1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2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/>
          <p:nvPr>
            <p:ph type="title"/>
          </p:nvPr>
        </p:nvSpPr>
        <p:spPr>
          <a:xfrm>
            <a:off x="1506000" y="1385509"/>
            <a:ext cx="6131700" cy="16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" type="subTitle"/>
          </p:nvPr>
        </p:nvSpPr>
        <p:spPr>
          <a:xfrm>
            <a:off x="2462575" y="2959018"/>
            <a:ext cx="4218600" cy="7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/>
        </p:nvSpPr>
        <p:spPr>
          <a:xfrm>
            <a:off x="4583948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 " id="26" name="Google Shape;26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5"/>
          <p:cNvSpPr txBox="1"/>
          <p:nvPr>
            <p:ph type="title"/>
          </p:nvPr>
        </p:nvSpPr>
        <p:spPr>
          <a:xfrm>
            <a:off x="311700" y="587975"/>
            <a:ext cx="6551100" cy="6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448400"/>
            <a:ext cx="6551100" cy="22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0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0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000"/>
              </a:spcBef>
              <a:spcAft>
                <a:spcPts val="10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9" name="Google Shape;29;p5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"/>
          <p:cNvSpPr txBox="1"/>
          <p:nvPr>
            <p:ph idx="2" type="body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34" name="Google Shape;3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6"/>
          <p:cNvSpPr txBox="1"/>
          <p:nvPr>
            <p:ph idx="3" type="subTitle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4" type="subTitle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b="1" sz="14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530680"/>
            <a:ext cx="8424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descr=" " id="41" name="Google Shape;41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" name="Google Shape;43;p7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708000"/>
            <a:ext cx="31323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2400"/>
              <a:buNone/>
              <a:defRPr sz="24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542000"/>
            <a:ext cx="3054600" cy="28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descr=" " id="47" name="Google Shape;4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" name="Google Shape;49;p8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FA7B17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1772975" y="528144"/>
            <a:ext cx="5597700" cy="247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5600"/>
              <a:buNone/>
              <a:defRPr sz="5600">
                <a:solidFill>
                  <a:srgbClr val="57068C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descr=" " id="52" name="Google Shape;5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9"/>
          <p:cNvSpPr txBox="1"/>
          <p:nvPr>
            <p:ph idx="1" type="body"/>
          </p:nvPr>
        </p:nvSpPr>
        <p:spPr>
          <a:xfrm>
            <a:off x="2120250" y="2660325"/>
            <a:ext cx="4903500" cy="16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 " id="56" name="Google Shape;5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0"/>
          <p:cNvSpPr txBox="1"/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8" name="Google Shape;58;p10"/>
          <p:cNvSpPr txBox="1"/>
          <p:nvPr>
            <p:ph idx="1" type="subTitle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descr=" " id="60" name="Google Shape;60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63" name="Google Shape;6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1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1"/>
          <p:cNvSpPr txBox="1"/>
          <p:nvPr>
            <p:ph type="title"/>
          </p:nvPr>
        </p:nvSpPr>
        <p:spPr>
          <a:xfrm>
            <a:off x="311700" y="3619355"/>
            <a:ext cx="45117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800"/>
              <a:buFont typeface="Montserrat"/>
              <a:buNone/>
              <a:defRPr b="0"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66" name="Google Shape;66;p11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65" y="0"/>
            <a:ext cx="913607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2"/>
          <p:cNvSpPr txBox="1"/>
          <p:nvPr>
            <p:ph hasCustomPrompt="1" type="title"/>
          </p:nvPr>
        </p:nvSpPr>
        <p:spPr>
          <a:xfrm>
            <a:off x="311700" y="606575"/>
            <a:ext cx="8520600" cy="16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3000"/>
              <a:buNone/>
              <a:defRPr sz="13000">
                <a:solidFill>
                  <a:srgbClr val="57068C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007950" y="3094875"/>
            <a:ext cx="3128100" cy="118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pic>
        <p:nvPicPr>
          <p:cNvPr descr=" " id="71" name="Google Shape;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2"/>
          <p:cNvSpPr txBox="1"/>
          <p:nvPr>
            <p:ph idx="2" type="subTitle"/>
          </p:nvPr>
        </p:nvSpPr>
        <p:spPr>
          <a:xfrm>
            <a:off x="1429500" y="2353776"/>
            <a:ext cx="62850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accent1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nd Text">
  <p:cSld name="CUSTOM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97" cy="51435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3"/>
          <p:cNvSpPr txBox="1"/>
          <p:nvPr>
            <p:ph type="title"/>
          </p:nvPr>
        </p:nvSpPr>
        <p:spPr>
          <a:xfrm>
            <a:off x="4969800" y="1412750"/>
            <a:ext cx="3766800" cy="1374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body"/>
          </p:nvPr>
        </p:nvSpPr>
        <p:spPr>
          <a:xfrm>
            <a:off x="4969675" y="2901150"/>
            <a:ext cx="3766800" cy="13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st">
  <p:cSld name="CUSTOM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81" name="Google Shape;8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4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4"/>
          <p:cNvSpPr txBox="1"/>
          <p:nvPr>
            <p:ph type="title"/>
          </p:nvPr>
        </p:nvSpPr>
        <p:spPr>
          <a:xfrm>
            <a:off x="311700" y="587975"/>
            <a:ext cx="3610800" cy="8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000"/>
              <a:buNone/>
              <a:defRPr sz="4000">
                <a:solidFill>
                  <a:srgbClr val="57068C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311700" y="1836175"/>
            <a:ext cx="3610800" cy="24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14"/>
          <p:cNvSpPr txBox="1"/>
          <p:nvPr/>
        </p:nvSpPr>
        <p:spPr>
          <a:xfrm>
            <a:off x="5958050" y="683000"/>
            <a:ext cx="2778600" cy="10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4"/>
          <p:cNvSpPr txBox="1"/>
          <p:nvPr>
            <p:ph idx="2" type="body"/>
          </p:nvPr>
        </p:nvSpPr>
        <p:spPr>
          <a:xfrm>
            <a:off x="5824575" y="683050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7" name="Google Shape;87;p14"/>
          <p:cNvSpPr txBox="1"/>
          <p:nvPr>
            <p:ph idx="3" type="body"/>
          </p:nvPr>
        </p:nvSpPr>
        <p:spPr>
          <a:xfrm>
            <a:off x="5824575" y="1931875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8" name="Google Shape;88;p14"/>
          <p:cNvSpPr txBox="1"/>
          <p:nvPr>
            <p:ph idx="4" type="body"/>
          </p:nvPr>
        </p:nvSpPr>
        <p:spPr>
          <a:xfrm>
            <a:off x="5824575" y="3180700"/>
            <a:ext cx="2911800" cy="109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 rtl="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 rtl="0">
              <a:spcBef>
                <a:spcPts val="6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 rtl="0">
              <a:spcBef>
                <a:spcPts val="6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 rtl="0">
              <a:spcBef>
                <a:spcPts val="6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 rtl="0">
              <a:spcBef>
                <a:spcPts val="600"/>
              </a:spcBef>
              <a:spcAft>
                <a:spcPts val="600"/>
              </a:spcAft>
              <a:buSzPts val="1000"/>
              <a:buChar char="■"/>
              <a:defRPr sz="1000"/>
            </a:lvl9pPr>
          </a:lstStyle>
          <a:p/>
        </p:txBody>
      </p:sp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0"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880">
          <p15:clr>
            <a:srgbClr val="FA7B17"/>
          </p15:clr>
        </p15:guide>
        <p15:guide id="2" orient="horz" pos="432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2">
    <p:bg>
      <p:bgPr>
        <a:solidFill>
          <a:srgbClr val="22033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2" name="Google Shape;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5"/>
          <p:cNvSpPr txBox="1"/>
          <p:nvPr>
            <p:ph type="title"/>
          </p:nvPr>
        </p:nvSpPr>
        <p:spPr>
          <a:xfrm>
            <a:off x="904850" y="1264532"/>
            <a:ext cx="67107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974919" y="3029082"/>
            <a:ext cx="3715200" cy="50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/>
        </p:txBody>
      </p:sp>
      <p:pic>
        <p:nvPicPr>
          <p:cNvPr descr=" " id="96" name="Google Shape;9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CUSTOM_3">
    <p:bg>
      <p:bgPr>
        <a:solidFill>
          <a:schemeClr val="lt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802" y="-34225"/>
            <a:ext cx="9269596" cy="51809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 txBox="1"/>
          <p:nvPr>
            <p:ph type="title"/>
          </p:nvPr>
        </p:nvSpPr>
        <p:spPr>
          <a:xfrm>
            <a:off x="592275" y="522825"/>
            <a:ext cx="8144400" cy="375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ith folio" type="blank">
  <p:cSld name="BLANK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03" name="Google Shape;103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7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sz="700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b="1" sz="3600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27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30.png"/><Relationship Id="rId5" Type="http://schemas.openxmlformats.org/officeDocument/2006/relationships/image" Target="../media/image22.png"/><Relationship Id="rId6" Type="http://schemas.openxmlformats.org/officeDocument/2006/relationships/image" Target="../media/image29.png"/><Relationship Id="rId7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31.png"/><Relationship Id="rId9" Type="http://schemas.openxmlformats.org/officeDocument/2006/relationships/image" Target="../media/image37.png"/><Relationship Id="rId5" Type="http://schemas.openxmlformats.org/officeDocument/2006/relationships/image" Target="../media/image32.png"/><Relationship Id="rId6" Type="http://schemas.openxmlformats.org/officeDocument/2006/relationships/image" Target="../media/image28.png"/><Relationship Id="rId7" Type="http://schemas.openxmlformats.org/officeDocument/2006/relationships/image" Target="../media/image35.png"/><Relationship Id="rId8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1.png"/><Relationship Id="rId4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43.png"/><Relationship Id="rId9" Type="http://schemas.openxmlformats.org/officeDocument/2006/relationships/image" Target="../media/image63.png"/><Relationship Id="rId5" Type="http://schemas.openxmlformats.org/officeDocument/2006/relationships/image" Target="../media/image42.png"/><Relationship Id="rId6" Type="http://schemas.openxmlformats.org/officeDocument/2006/relationships/image" Target="../media/image39.png"/><Relationship Id="rId7" Type="http://schemas.openxmlformats.org/officeDocument/2006/relationships/image" Target="../media/image47.png"/><Relationship Id="rId8" Type="http://schemas.openxmlformats.org/officeDocument/2006/relationships/image" Target="../media/image4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53.png"/><Relationship Id="rId5" Type="http://schemas.openxmlformats.org/officeDocument/2006/relationships/image" Target="../media/image45.png"/><Relationship Id="rId6" Type="http://schemas.openxmlformats.org/officeDocument/2006/relationships/image" Target="../media/image51.png"/><Relationship Id="rId7" Type="http://schemas.openxmlformats.org/officeDocument/2006/relationships/image" Target="../media/image46.png"/><Relationship Id="rId8" Type="http://schemas.openxmlformats.org/officeDocument/2006/relationships/image" Target="../media/image6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Relationship Id="rId4" Type="http://schemas.openxmlformats.org/officeDocument/2006/relationships/image" Target="../media/image52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2.png"/><Relationship Id="rId4" Type="http://schemas.openxmlformats.org/officeDocument/2006/relationships/image" Target="../media/image48.png"/><Relationship Id="rId5" Type="http://schemas.openxmlformats.org/officeDocument/2006/relationships/image" Target="../media/image6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7.png"/><Relationship Id="rId4" Type="http://schemas.openxmlformats.org/officeDocument/2006/relationships/image" Target="../media/image58.png"/><Relationship Id="rId5" Type="http://schemas.openxmlformats.org/officeDocument/2006/relationships/image" Target="../media/image76.png"/><Relationship Id="rId6" Type="http://schemas.openxmlformats.org/officeDocument/2006/relationships/image" Target="../media/image60.png"/><Relationship Id="rId7" Type="http://schemas.openxmlformats.org/officeDocument/2006/relationships/image" Target="../media/image77.png"/><Relationship Id="rId8" Type="http://schemas.openxmlformats.org/officeDocument/2006/relationships/image" Target="../media/image5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9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Relationship Id="rId6" Type="http://schemas.openxmlformats.org/officeDocument/2006/relationships/image" Target="../media/image7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9.png"/><Relationship Id="rId4" Type="http://schemas.openxmlformats.org/officeDocument/2006/relationships/image" Target="../media/image66.png"/><Relationship Id="rId5" Type="http://schemas.openxmlformats.org/officeDocument/2006/relationships/image" Target="../media/image6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9.png"/><Relationship Id="rId4" Type="http://schemas.openxmlformats.org/officeDocument/2006/relationships/image" Target="../media/image8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0.png"/><Relationship Id="rId4" Type="http://schemas.openxmlformats.org/officeDocument/2006/relationships/image" Target="../media/image75.png"/><Relationship Id="rId5" Type="http://schemas.openxmlformats.org/officeDocument/2006/relationships/image" Target="../media/image7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7.png"/><Relationship Id="rId4" Type="http://schemas.openxmlformats.org/officeDocument/2006/relationships/image" Target="../media/image85.png"/><Relationship Id="rId5" Type="http://schemas.openxmlformats.org/officeDocument/2006/relationships/image" Target="../media/image8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4.png"/><Relationship Id="rId4" Type="http://schemas.openxmlformats.org/officeDocument/2006/relationships/image" Target="../media/image1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2.png"/><Relationship Id="rId4" Type="http://schemas.openxmlformats.org/officeDocument/2006/relationships/image" Target="../media/image81.png"/><Relationship Id="rId5" Type="http://schemas.openxmlformats.org/officeDocument/2006/relationships/image" Target="../media/image86.png"/><Relationship Id="rId6" Type="http://schemas.openxmlformats.org/officeDocument/2006/relationships/image" Target="../media/image8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9.png"/><Relationship Id="rId4" Type="http://schemas.openxmlformats.org/officeDocument/2006/relationships/image" Target="../media/image8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7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6" Type="http://schemas.openxmlformats.org/officeDocument/2006/relationships/image" Target="../media/image8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8.png"/><Relationship Id="rId4" Type="http://schemas.openxmlformats.org/officeDocument/2006/relationships/image" Target="../media/image97.png"/><Relationship Id="rId5" Type="http://schemas.openxmlformats.org/officeDocument/2006/relationships/image" Target="../media/image92.png"/><Relationship Id="rId6" Type="http://schemas.openxmlformats.org/officeDocument/2006/relationships/image" Target="../media/image9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5.png"/><Relationship Id="rId4" Type="http://schemas.openxmlformats.org/officeDocument/2006/relationships/image" Target="../media/image87.png"/><Relationship Id="rId5" Type="http://schemas.openxmlformats.org/officeDocument/2006/relationships/image" Target="../media/image98.png"/><Relationship Id="rId6" Type="http://schemas.openxmlformats.org/officeDocument/2006/relationships/image" Target="../media/image109.png"/><Relationship Id="rId7" Type="http://schemas.openxmlformats.org/officeDocument/2006/relationships/image" Target="../media/image9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9.png"/><Relationship Id="rId4" Type="http://schemas.openxmlformats.org/officeDocument/2006/relationships/image" Target="../media/image100.png"/><Relationship Id="rId5" Type="http://schemas.openxmlformats.org/officeDocument/2006/relationships/image" Target="../media/image93.png"/><Relationship Id="rId6" Type="http://schemas.openxmlformats.org/officeDocument/2006/relationships/image" Target="../media/image112.png"/><Relationship Id="rId7" Type="http://schemas.openxmlformats.org/officeDocument/2006/relationships/image" Target="../media/image10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13.png"/><Relationship Id="rId4" Type="http://schemas.openxmlformats.org/officeDocument/2006/relationships/image" Target="../media/image9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1.png"/><Relationship Id="rId4" Type="http://schemas.openxmlformats.org/officeDocument/2006/relationships/image" Target="../media/image106.png"/><Relationship Id="rId5" Type="http://schemas.openxmlformats.org/officeDocument/2006/relationships/image" Target="../media/image103.png"/><Relationship Id="rId6" Type="http://schemas.openxmlformats.org/officeDocument/2006/relationships/image" Target="../media/image10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1.png"/><Relationship Id="rId4" Type="http://schemas.openxmlformats.org/officeDocument/2006/relationships/image" Target="../media/image108.png"/><Relationship Id="rId5" Type="http://schemas.openxmlformats.org/officeDocument/2006/relationships/image" Target="../media/image107.png"/><Relationship Id="rId6" Type="http://schemas.openxmlformats.org/officeDocument/2006/relationships/image" Target="../media/image11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01.png"/><Relationship Id="rId4" Type="http://schemas.openxmlformats.org/officeDocument/2006/relationships/image" Target="../media/image111.png"/><Relationship Id="rId5" Type="http://schemas.openxmlformats.org/officeDocument/2006/relationships/image" Target="../media/image104.png"/><Relationship Id="rId6" Type="http://schemas.openxmlformats.org/officeDocument/2006/relationships/image" Target="../media/image1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Autonomous Mobile Robots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Aliasghar Moj Arab</a:t>
            </a:r>
            <a:endParaRPr/>
          </a:p>
        </p:txBody>
      </p:sp>
      <p:sp>
        <p:nvSpPr>
          <p:cNvPr id="112" name="Google Shape;112;p19"/>
          <p:cNvSpPr txBox="1"/>
          <p:nvPr>
            <p:ph idx="2" type="subTitle"/>
          </p:nvPr>
        </p:nvSpPr>
        <p:spPr>
          <a:xfrm>
            <a:off x="2496200" y="2840512"/>
            <a:ext cx="4151400" cy="7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Control and Planning: Autonomous Mobile Robots and Autonomous Vehicles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1506000" y="1385509"/>
            <a:ext cx="6131700" cy="16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Lecture 4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18" name="Google Shape;118;p20"/>
          <p:cNvSpPr txBox="1"/>
          <p:nvPr>
            <p:ph idx="1" type="subTitle"/>
          </p:nvPr>
        </p:nvSpPr>
        <p:spPr>
          <a:xfrm>
            <a:off x="2298100" y="2951550"/>
            <a:ext cx="4677000" cy="73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accent2"/>
                </a:solidFill>
              </a:rPr>
              <a:t>Nonlinear Control Methods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119" name="Google Shape;119;p20"/>
          <p:cNvSpPr txBox="1"/>
          <p:nvPr/>
        </p:nvSpPr>
        <p:spPr>
          <a:xfrm>
            <a:off x="3793600" y="817178"/>
            <a:ext cx="15567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 A R T   0 1</a:t>
            </a:r>
            <a:endParaRPr sz="900">
              <a:solidFill>
                <a:schemeClr val="accent2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cxnSp>
        <p:nvCxnSpPr>
          <p:cNvPr id="120" name="Google Shape;120;p20"/>
          <p:cNvCxnSpPr/>
          <p:nvPr/>
        </p:nvCxnSpPr>
        <p:spPr>
          <a:xfrm>
            <a:off x="4231926" y="1084298"/>
            <a:ext cx="692400" cy="0"/>
          </a:xfrm>
          <a:prstGeom prst="straightConnector1">
            <a:avLst/>
          </a:prstGeom>
          <a:noFill/>
          <a:ln cap="flat" cmpd="sng" w="9525">
            <a:solidFill>
              <a:srgbClr val="57068C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637500" y="314450"/>
            <a:ext cx="7869000" cy="53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Topics</a:t>
            </a:r>
            <a:endParaRPr sz="30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38975" y="844850"/>
            <a:ext cx="8212500" cy="36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AutoNum type="arabicPeriod"/>
            </a:pPr>
            <a:r>
              <a:rPr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&amp; Physical Constraints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Vehicle Kinematics &amp; Equations of Motion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&amp; Perception Fundamentals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AutoNum type="arabicPeriod"/>
            </a:pPr>
            <a:r>
              <a:rPr b="1" lang="en"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Control Methods</a:t>
            </a:r>
            <a:endParaRPr b="1"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Model Predictive Control (NMPC) + Constraints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Motion Planning Algorithms (RRT*, RRT, DWA, path generation)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Learning-Based Planning &amp; Control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AutoNum type="arabicPeriod"/>
            </a:pPr>
            <a:r>
              <a:rPr lang="en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Standards, Architectures, &amp; Safety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38975" y="50135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a Controller</a:t>
            </a:r>
            <a:endParaRPr sz="2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338975" y="1181200"/>
            <a:ext cx="53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We are Modelling a nonlinear, time-invariant system: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2"/>
          <p:cNvSpPr txBox="1"/>
          <p:nvPr/>
        </p:nvSpPr>
        <p:spPr>
          <a:xfrm>
            <a:off x="407175" y="2371650"/>
            <a:ext cx="895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Where: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\\dot{X\\,}\\,=\\,\\,f\\left(X\\,,u\\right)$$&quot;,&quot;backgroundColorModified&quot;:false,&quot;id&quot;:&quot;1&quot;,&quot;aid&quot;:null,&quot;font&quot;:{&quot;size&quot;:16,&quot;family&quot;:&quot;Arial&quot;,&quot;color&quot;:&quot;#333333&quot;},&quot;type&quot;:&quot;$$&quot;,&quot;backgroundColor&quot;:&quot;#FFFFFF&quot;,&quot;ts&quot;:1759112654073,&quot;cs&quot;:&quot;hnWpP2flauKJuRvQSYiYLQ==&quot;,&quot;size&quot;:{&quot;width&quot;:156.83333333333334,&quot;height&quot;:29}}"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3850" y="1822325"/>
            <a:ext cx="1833748" cy="33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2"/>
          <p:cNvSpPr txBox="1"/>
          <p:nvPr/>
        </p:nvSpPr>
        <p:spPr>
          <a:xfrm>
            <a:off x="407175" y="2862000"/>
            <a:ext cx="119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Robot state =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id&quot;:&quot;2&quot;,&quot;aid&quot;:null,&quot;backgroundColor&quot;:&quot;#FFFFFF&quot;,&quot;code&quot;:&quot;$$X\\,=\\,\\begin{bmatrix}\n{x}\\\\\n{y}\\\\\n{\\theta}\\\\\n\\end{bmatrix}$$&quot;,&quot;type&quot;:&quot;$$&quot;,&quot;font&quot;:{&quot;family&quot;:&quot;Arial&quot;,&quot;size&quot;:16,&quot;color&quot;:&quot;#000000&quot;},&quot;backgroundColorModified&quot;:false,&quot;ts&quot;:1759112799425,&quot;cs&quot;:&quot;KZ08I+1lGxEkJhMp8+Tgfg==&quot;,&quot;size&quot;:{&quot;width&quot;:102.33333333333333,&quot;height&quot;:95.16666666666667}}" id="136" name="Google Shape;13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9050" y="2608863"/>
            <a:ext cx="974725" cy="9064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backgroundColor&quot;:&quot;#FFFFFF&quot;,&quot;code&quot;:&quot;$$u\\,=\\,$$&quot;,&quot;font&quot;:{&quot;family&quot;:&quot;Arial&quot;,&quot;color&quot;:&quot;#000000&quot;,&quot;size&quot;:16},&quot;backgroundColorModified&quot;:false,&quot;id&quot;:&quot;3&quot;,&quot;ts&quot;:1759112842324,&quot;cs&quot;:&quot;koCwx56zmtn0jKkS06r7ng==&quot;,&quot;size&quot;:{&quot;width&quot;:43,&quot;height&quot;:11.5}}" id="137" name="Google Shape;13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700" y="3769900"/>
            <a:ext cx="695525" cy="1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2"/>
          <p:cNvSpPr txBox="1"/>
          <p:nvPr/>
        </p:nvSpPr>
        <p:spPr>
          <a:xfrm>
            <a:off x="1355625" y="3662813"/>
            <a:ext cx="1420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Control Input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59460" y="1181200"/>
            <a:ext cx="2727016" cy="277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Definition</a:t>
            </a:r>
            <a:endParaRPr sz="2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38975" y="1036875"/>
            <a:ext cx="530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Define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the vector as 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e\\,=\\,X_{d}\\,-\\,X$$&quot;,&quot;type&quot;:&quot;$$&quot;,&quot;backgroundColor&quot;:&quot;#FFFFFF&quot;,&quot;aid&quot;:null,&quot;backgroundColorModified&quot;:false,&quot;font&quot;:{&quot;family&quot;:&quot;Arial&quot;,&quot;color&quot;:&quot;#333333&quot;,&quot;size&quot;:24.5},&quot;id&quot;:&quot;1&quot;,&quot;ts&quot;:1759113647997,&quot;cs&quot;:&quot;cHPi6VWbGoeFIEgUIro9ZQ==&quot;,&quot;size&quot;:{&quot;width&quot;:225.33602125984257,&quot;height&quot;:32.769017322834635}}" id="146" name="Google Shape;14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900" y="1181211"/>
            <a:ext cx="2146326" cy="31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e\\,=\\begin{bmatrix}\n{x_{d}}\\\\\n{y_{d}}\\\\\n{\\theta_{d}}\\\\\n\\end{bmatrix}-\\,\\begin{bmatrix}\n{x}\\\\\n{y}\\\\\n{\\theta}\\\\\n\\end{bmatrix}$$&quot;,&quot;backgroundColorModified&quot;:false,&quot;backgroundColor&quot;:&quot;#FFFFFF&quot;,&quot;id&quot;:&quot;2&quot;,&quot;font&quot;:{&quot;color&quot;:&quot;#000000&quot;,&quot;family&quot;:&quot;Arial&quot;,&quot;size&quot;:19.5},&quot;aid&quot;:null,&quot;ts&quot;:1759113661990,&quot;cs&quot;:&quot;wx8JyDT90U5EMPsj62Cpwg==&quot;,&quot;size&quot;:{&quot;width&quot;:230.91602020997377,&quot;height&quot;:120.85567191601054}}" id="147" name="Google Shape;14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3675" y="1756600"/>
            <a:ext cx="2199475" cy="115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59460" y="1181200"/>
            <a:ext cx="2727016" cy="2774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type&quot;:&quot;$$&quot;,&quot;font&quot;:{&quot;size&quot;:31.5,&quot;color&quot;:&quot;#000000&quot;,&quot;family&quot;:&quot;Arial&quot;},&quot;id&quot;:&quot;4&quot;,&quot;code&quot;:&quot;$$e_{x}\\,=\\,x_{d\\,}-\\,x\\,$$&quot;,&quot;backgroundColor&quot;:&quot;#FFFFFF&quot;,&quot;ts&quot;:1759118639596,&quot;cs&quot;:&quot;k/wYdRSsfWoGWkJlc5NHjg==&quot;,&quot;size&quot;:{&quot;width&quot;:282.8737653543307,&quot;height&quot;:29.999982677165374}}" id="149" name="Google Shape;149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301" y="3111560"/>
            <a:ext cx="269437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5&quot;,&quot;backgroundColorModified&quot;:false,&quot;type&quot;:&quot;$$&quot;,&quot;aid&quot;:null,&quot;code&quot;:&quot;$$e_{y}\\,=\\,y_{d\\,}-\\,y$$&quot;,&quot;font&quot;:{&quot;family&quot;:&quot;Arial&quot;,&quot;color&quot;:&quot;#000000&quot;,&quot;size&quot;:26},&quot;backgroundColor&quot;:&quot;#FFFFFF&quot;,&quot;ts&quot;:1759118566492,&quot;cs&quot;:&quot;uoWE2HXb26EcgUCFJDZowg==&quot;,&quot;size&quot;:{&quot;width&quot;:224.4,&quot;height&quot;:30}}" id="150" name="Google Shape;150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8975" y="3619472"/>
            <a:ext cx="2727024" cy="364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28.5,&quot;family&quot;:&quot;Arial&quot;},&quot;backgroundColorModified&quot;:false,&quot;code&quot;:&quot;$$e_{\\theta}\\,=\\,\\theta_{d\\,}-\\,\\theta\\,\\,$$&quot;,&quot;type&quot;:&quot;$$&quot;,&quot;id&quot;:&quot;6&quot;,&quot;backgroundColor&quot;:&quot;#FFFFFF&quot;,&quot;aid&quot;:null,&quot;ts&quot;:1759118624383,&quot;cs&quot;:&quot;0l3VtcOxF68pVnWQZMSJ9A==&quot;,&quot;size&quot;:{&quot;width&quot;:243,&quot;height&quot;:38.600000000000016}}" id="151" name="Google Shape;151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5300" y="4091873"/>
            <a:ext cx="2713845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/>
        </p:nvSpPr>
        <p:spPr>
          <a:xfrm>
            <a:off x="3303175" y="3114425"/>
            <a:ext cx="45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along x-axis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23"/>
          <p:cNvSpPr txBox="1"/>
          <p:nvPr/>
        </p:nvSpPr>
        <p:spPr>
          <a:xfrm>
            <a:off x="3303175" y="3570913"/>
            <a:ext cx="45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along x-axis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" name="Google Shape;154;p23"/>
          <p:cNvSpPr txBox="1"/>
          <p:nvPr/>
        </p:nvSpPr>
        <p:spPr>
          <a:xfrm>
            <a:off x="3303175" y="4027425"/>
            <a:ext cx="45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Difference in Heading</a:t>
            </a:r>
            <a:endParaRPr sz="17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Things to focus on while designing a controllet</a:t>
            </a:r>
            <a:endParaRPr sz="27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4"/>
          <p:cNvSpPr txBox="1"/>
          <p:nvPr/>
        </p:nvSpPr>
        <p:spPr>
          <a:xfrm>
            <a:off x="581975" y="1038150"/>
            <a:ext cx="45300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Stable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Optimal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Robust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Adaptive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Efficient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b="1" lang="en" sz="2400">
                <a:latin typeface="Times New Roman"/>
                <a:ea typeface="Times New Roman"/>
                <a:cs typeface="Times New Roman"/>
                <a:sym typeface="Times New Roman"/>
              </a:rPr>
              <a:t>Low cost</a:t>
            </a:r>
            <a:r>
              <a:rPr lang="en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5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Independent Wheel Control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66" name="Google Shape;166;p25"/>
          <p:cNvGraphicFramePr/>
          <p:nvPr/>
        </p:nvGraphicFramePr>
        <p:xfrm>
          <a:off x="543550" y="986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{5E6C4F26-F6C5-494F-8663-ECA217799EB2}</a:tableStyleId>
              </a:tblPr>
              <a:tblGrid>
                <a:gridCol w="3914425"/>
                <a:gridCol w="3914425"/>
              </a:tblGrid>
              <a:tr h="455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Pros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Cons</a:t>
                      </a:r>
                      <a:endParaRPr b="1"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428525"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 PI controllers (straightforward loop design)</a:t>
                      </a:r>
                      <a:b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Works well with ROS kinematic frameworks</a:t>
                      </a:r>
                      <a:b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Scalable (can extend to more wheels)</a:t>
                      </a:r>
                      <a:b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at the kinematic level</a:t>
                      </a:r>
                      <a:b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Lacks deeper physical/dynamic understanding</a:t>
                      </a:r>
                      <a:b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Doesn’t capture full robot dynamics</a:t>
                      </a:r>
                      <a:b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More sensors required (encoders per wheel)</a:t>
                      </a:r>
                      <a:b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Times New Roman"/>
                        <a:buAutoNum type="arabicPeriod"/>
                      </a:pPr>
                      <a:r>
                        <a:rPr lang="en" sz="1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Adds dynamic complexity at higher levels</a:t>
                      </a:r>
                      <a:endParaRPr sz="1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38975" y="320475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 Electrical Dynamics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000" y="1651600"/>
            <a:ext cx="3150400" cy="169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L\\dot{I}\\,+\\,RI\\,=\\,V\\,-\\,K_{b}\\,\\dot{\\phi_{m}}$$&quot;,&quot;backgroundColor&quot;:&quot;#FFFFFF&quot;,&quot;font&quot;:{&quot;size&quot;:12,&quot;family&quot;:&quot;Arial&quot;,&quot;color&quot;:&quot;#000000&quot;},&quot;id&quot;:&quot;7&quot;,&quot;aid&quot;:null,&quot;backgroundColorModified&quot;:false,&quot;ts&quot;:1759120220544,&quot;cs&quot;:&quot;OkVhuw5xryEzdNAXw4ZLaQ==&quot;,&quot;size&quot;:{&quot;width&quot;:199,&quot;height&quot;:21.166666666666668}}" id="173" name="Google Shape;17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75" y="1293375"/>
            <a:ext cx="4164824" cy="4430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8&quot;,&quot;backgroundColor&quot;:&quot;#FFFFFF&quot;,&quot;code&quot;:&quot;$$V\\,=\\,$$&quot;,&quot;backgroundColorModified&quot;:false,&quot;type&quot;:&quot;$$&quot;,&quot;aid&quot;:null,&quot;font&quot;:{&quot;size&quot;:12,&quot;family&quot;:&quot;Arial&quot;,&quot;color&quot;:&quot;#000000&quot;},&quot;ts&quot;:1759120235183,&quot;cs&quot;:&quot;RS+6VF0ABaWaaZJvBmwHfw==&quot;,&quot;size&quot;:{&quot;width&quot;:35.5,&quot;height&quot;:13.333333333333334}}" id="174" name="Google Shape;17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300" y="3555750"/>
            <a:ext cx="804670" cy="30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9&quot;,&quot;aid&quot;:null,&quot;backgroundColorModified&quot;:false,&quot;type&quot;:&quot;$$&quot;,&quot;code&quot;:&quot;$$I\\,=\\,$$&quot;,&quot;font&quot;:{&quot;family&quot;:&quot;Arial&quot;,&quot;size&quot;:12,&quot;color&quot;:&quot;#000000&quot;},&quot;backgroundColor&quot;:&quot;#FFFFFF&quot;,&quot;ts&quot;:1759120248165,&quot;cs&quot;:&quot;H/16j7NcJ/uTSY5gy8e1eA==&quot;,&quot;size&quot;:{&quot;width&quot;:31,&quot;height&quot;:12.833333333333334}}" id="175" name="Google Shape;175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202" y="2523600"/>
            <a:ext cx="730018" cy="30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R\\,=\\,$$&quot;,&quot;id&quot;:&quot;10&quot;,&quot;backgroundColorModified&quot;:false,&quot;type&quot;:&quot;$$&quot;,&quot;aid&quot;:null,&quot;backgroundColor&quot;:&quot;#FFFFFF&quot;,&quot;font&quot;:{&quot;family&quot;:&quot;Arial&quot;,&quot;color&quot;:&quot;#000000&quot;,&quot;size&quot;:12},&quot;ts&quot;:1759120263038,&quot;cs&quot;:&quot;cyN+L6wBdOuAhyy+Vx80sg==&quot;,&quot;size&quot;:{&quot;width&quot;:35.666666666666664,&quot;height&quot;:13.333333333333334}}" id="176" name="Google Shape;176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6650" y="3041725"/>
            <a:ext cx="808525" cy="302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1&quot;,&quot;aid&quot;:null,&quot;backgroundColorModified&quot;:false,&quot;font&quot;:{&quot;family&quot;:&quot;Arial&quot;,&quot;size&quot;:12,&quot;color&quot;:&quot;#000000&quot;},&quot;type&quot;:&quot;$$&quot;,&quot;backgroundColor&quot;:&quot;#FFFFFF&quot;,&quot;code&quot;:&quot;$$L\\,=\\,$$&quot;,&quot;ts&quot;:1759120278586,&quot;cs&quot;:&quot;dGV/IMWRqMPH8JUvbc0M9g==&quot;,&quot;size&quot;:{&quot;width&quot;:34.166666666666664,&quot;height&quot;:12.833333333333334}}" id="177" name="Google Shape;177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7200" y="1992900"/>
            <a:ext cx="730025" cy="27421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id&quot;:&quot;12&quot;,&quot;font&quot;:{&quot;size&quot;:12,&quot;family&quot;:&quot;Arial&quot;,&quot;color&quot;:&quot;#000000&quot;},&quot;backgroundColorModified&quot;:false,&quot;type&quot;:&quot;$$&quot;,&quot;code&quot;:&quot;$$K_{b}\\,\\dot{\\phi_{m}}\\,=\\,$$&quot;,&quot;backgroundColor&quot;:&quot;#FFFFFF&quot;,&quot;ts&quot;:1759120330660,&quot;cs&quot;:&quot;PO9Vp9OMOlvBhhjz08dvbQ==&quot;,&quot;size&quot;:{&quot;width&quot;:72.16666666666667,&quot;height&quot;:21.166666666666668}}" id="178" name="Google Shape;178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5300" y="3948575"/>
            <a:ext cx="1115347" cy="327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6"/>
          <p:cNvSpPr txBox="1"/>
          <p:nvPr/>
        </p:nvSpPr>
        <p:spPr>
          <a:xfrm>
            <a:off x="1336975" y="1906113"/>
            <a:ext cx="278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motor voltage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1336975" y="2452625"/>
            <a:ext cx="278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in motor coil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p26"/>
          <p:cNvSpPr txBox="1"/>
          <p:nvPr/>
        </p:nvSpPr>
        <p:spPr>
          <a:xfrm>
            <a:off x="1394225" y="2971975"/>
            <a:ext cx="278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coil resistance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6"/>
          <p:cNvSpPr txBox="1"/>
          <p:nvPr/>
        </p:nvSpPr>
        <p:spPr>
          <a:xfrm>
            <a:off x="1394225" y="3491325"/>
            <a:ext cx="278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coil inductance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6"/>
          <p:cNvSpPr txBox="1"/>
          <p:nvPr/>
        </p:nvSpPr>
        <p:spPr>
          <a:xfrm>
            <a:off x="1537625" y="3896600"/>
            <a:ext cx="2784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 EMF opposing the voltage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7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Torque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9" name="Google Shape;18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000" y="1651600"/>
            <a:ext cx="3150400" cy="169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code&quot;:&quot;$$\\tau\\,=\\,k_{m\\,}I$$&quot;,&quot;aid&quot;:null,&quot;font&quot;:{&quot;family&quot;:&quot;Arial&quot;,&quot;size&quot;:26,&quot;color&quot;:&quot;#000000&quot;},&quot;id&quot;:&quot;7&quot;,&quot;backgroundColor&quot;:&quot;#FFFFFF&quot;,&quot;ts&quot;:1759120990615,&quot;cs&quot;:&quot;RFoC028FM5GQwRJcu8j7Yg==&quot;,&quot;size&quot;:{&quot;width&quot;:165.33333333333334,&quot;height&quot;:34.833333333333336}}" id="190" name="Google Shape;19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725" y="1263900"/>
            <a:ext cx="2911701" cy="61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13&quot;,&quot;aid&quot;:null,&quot;font&quot;:{&quot;size&quot;:26,&quot;family&quot;:&quot;Arial&quot;,&quot;color&quot;:&quot;#000000&quot;},&quot;backgroundColorModified&quot;:false,&quot;backgroundColor&quot;:&quot;#FFFFFF&quot;,&quot;type&quot;:&quot;$$&quot;,&quot;code&quot;:&quot;$$k_{m\\,}=$$&quot;,&quot;ts&quot;:1759121007373,&quot;cs&quot;:&quot;wGQAX8EoY9ORUyWp0ktg5Q==&quot;,&quot;size&quot;:{&quot;width&quot;:95.33333333333333,&quot;height&quot;:34.833333333333336}}" id="191" name="Google Shape;19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3725" y="3044875"/>
            <a:ext cx="882456" cy="32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type&quot;:&quot;$$&quot;,&quot;font&quot;:{&quot;family&quot;:&quot;Arial&quot;,&quot;size&quot;:26,&quot;color&quot;:&quot;#000000&quot;},&quot;code&quot;:&quot;$$I\\,=$$&quot;,&quot;backgroundColor&quot;:&quot;#FFFFFF&quot;,&quot;backgroundColorModified&quot;:false,&quot;id&quot;:&quot;14&quot;,&quot;ts&quot;:1759121023027,&quot;cs&quot;:&quot;mYdfBXdLq7WPKxNKfxE1+g==&quot;,&quot;size&quot;:{&quot;width&quot;:67,&quot;height&quot;:27.833333333333332}}" id="192" name="Google Shape;192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725" y="2294825"/>
            <a:ext cx="776098" cy="322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color&quot;:&quot;#000000&quot;,&quot;size&quot;:26},&quot;aid&quot;:null,&quot;backgroundColorModified&quot;:false,&quot;backgroundColor&quot;:&quot;#FFFFFF&quot;,&quot;code&quot;:&quot;$$\\tau\\propto\\,I$$&quot;,&quot;type&quot;:&quot;$$&quot;,&quot;id&quot;:&quot;15&quot;,&quot;ts&quot;:1759121067710,&quot;cs&quot;:&quot;I+/wXYiEmqK23MLVyWbf3w==&quot;,&quot;size&quot;:{&quot;width&quot;:102,&quot;height&quot;:28.333333333333332}}" id="193" name="Google Shape;193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06800" y="3794925"/>
            <a:ext cx="1160725" cy="322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7"/>
          <p:cNvSpPr txBox="1"/>
          <p:nvPr/>
        </p:nvSpPr>
        <p:spPr>
          <a:xfrm>
            <a:off x="1533625" y="2269813"/>
            <a:ext cx="237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 torque constant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7"/>
          <p:cNvSpPr txBox="1"/>
          <p:nvPr/>
        </p:nvSpPr>
        <p:spPr>
          <a:xfrm>
            <a:off x="1588675" y="2975225"/>
            <a:ext cx="237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motor current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 Mechanical Dynamics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1" name="Google Shape;20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5000" y="1651600"/>
            <a:ext cx="3150400" cy="1698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7&quot;,&quot;type&quot;:&quot;$&quot;,&quot;font&quot;:{&quot;size&quot;:34,&quot;family&quot;:&quot;Arial&quot;,&quot;color&quot;:&quot;#000000&quot;},&quot;backgroundColorModified&quot;:false,&quot;backgroundColor&quot;:&quot;#FFFFFF&quot;,&quot;aid&quot;:null,&quot;code&quot;:&quot;$J_{w}\\ddot{\\phi}\\,+\\,B_{w}\\dot{\\phi}\\,=\\,\\tau_{m}\\,-\\,\\tau_{L}$&quot;,&quot;ts&quot;:1759121487638,&quot;cs&quot;:&quot;/AyCC2MnQQGoVrEMMCY5yQ==&quot;,&quot;size&quot;:{&quot;width&quot;:559.876757480315,&quot;height&quot;:60.11476377952756}}" id="202" name="Google Shape;20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175" y="1294606"/>
            <a:ext cx="5332826" cy="572593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/>
          <p:nvPr/>
        </p:nvSpPr>
        <p:spPr>
          <a:xfrm>
            <a:off x="1549350" y="2190350"/>
            <a:ext cx="237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 inertia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1520000" y="2710300"/>
            <a:ext cx="396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viscous damping (friction at bearings, etc.)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Modified&quot;:false,&quot;code&quot;:&quot;$$\\left\\lfloor \\tau_{w}\\right\\rfloor $$&quot;,&quot;font&quot;:{&quot;size&quot;:26.5,&quot;family&quot;:&quot;Arial&quot;,&quot;color&quot;:&quot;#000000&quot;},&quot;aid&quot;:null,&quot;id&quot;:&quot;17&quot;,&quot;type&quot;:&quot;$$&quot;,&quot;backgroundColor&quot;:&quot;#FFFFFF&quot;,&quot;ts&quot;:1759121475143,&quot;cs&quot;:&quot;ZqX8u2yBMzldND8sE0htgQ==&quot;,&quot;size&quot;:{&quot;width&quot;:65,&quot;height&quot;:41.666666666666664}}" id="205" name="Google Shape;20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895075"/>
            <a:ext cx="619125" cy="39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backgroundColor&quot;:&quot;#FFFFFF&quot;,&quot;font&quot;:{&quot;color&quot;:&quot;#000000&quot;,&quot;size&quot;:25.5,&quot;family&quot;:&quot;Arial&quot;},&quot;aid&quot;:null,&quot;code&quot;:&quot;$$J_{w}\\,=$$&quot;,&quot;id&quot;:&quot;18&quot;,&quot;backgroundColorModified&quot;:false,&quot;ts&quot;:1759121894745,&quot;cs&quot;:&quot;IK1W6dBmIeuYJACDE4f0XQ==&quot;,&quot;size&quot;:{&quot;width&quot;:90,&quot;height&quot;:33.666666666666664}}" id="206" name="Google Shape;206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2325" y="2294826"/>
            <a:ext cx="857250" cy="32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id&quot;:&quot;19&quot;,&quot;font&quot;:{&quot;size&quot;:23.5,&quot;color&quot;:&quot;#000000&quot;,&quot;family&quot;:&quot;Arial&quot;},&quot;backgroundColor&quot;:&quot;#FFFFFF&quot;,&quot;backgroundColorModified&quot;:false,&quot;code&quot;:&quot;$$B_{w}\\dot{\\phi}\\,=\\,$$&quot;,&quot;ts&quot;:1759121847600,&quot;cs&quot;:&quot;s2bQ1vGadPYi3hl4scA2QQ==&quot;,&quot;size&quot;:{&quot;width&quot;:114.33340944881888,&quot;height&quot;:41.798153280839884}}" id="207" name="Google Shape;207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2175" y="2742075"/>
            <a:ext cx="1089026" cy="3981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tau_{m}\\,=$$&quot;,&quot;backgroundColorModified&quot;:false,&quot;type&quot;:&quot;$$&quot;,&quot;backgroundColor&quot;:&quot;#FFFFFF&quot;,&quot;aid&quot;:null,&quot;id&quot;:&quot;20&quot;,&quot;font&quot;:{&quot;color&quot;:&quot;#000000&quot;,&quot;family&quot;:&quot;Arial&quot;,&quot;size&quot;:34},&quot;ts&quot;:1759121582409,&quot;cs&quot;:&quot;RPH7z1jPqfln/PErqBSCUQ==&quot;,&quot;size&quot;:{&quot;width&quot;:122,&quot;height&quot;:31.5}}" id="208" name="Google Shape;208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7173" y="3925125"/>
            <a:ext cx="927548" cy="23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$\\tau_{L}\\,=$&quot;,&quot;backgroundColorModified&quot;:false,&quot;type&quot;:&quot;$&quot;,&quot;id&quot;:&quot;21&quot;,&quot;backgroundColor&quot;:&quot;#FFFFFF&quot;,&quot;font&quot;:{&quot;color&quot;:&quot;#000000&quot;,&quot;size&quot;:34,&quot;family&quot;:&quot;Arial&quot;},&quot;ts&quot;:1759121600109,&quot;cs&quot;:&quot;Kpoa13rQNzButJLFRniwUw==&quot;,&quot;size&quot;:{&quot;width&quot;:114.33333333333333,&quot;height&quot;:31.166666666666668}}" id="209" name="Google Shape;209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1715" y="3412903"/>
            <a:ext cx="878474" cy="23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8"/>
          <p:cNvSpPr txBox="1"/>
          <p:nvPr/>
        </p:nvSpPr>
        <p:spPr>
          <a:xfrm>
            <a:off x="1588800" y="3110825"/>
            <a:ext cx="350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load torque (from robot weight, ground resistance)</a:t>
            </a:r>
            <a:endParaRPr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8"/>
          <p:cNvSpPr txBox="1"/>
          <p:nvPr/>
        </p:nvSpPr>
        <p:spPr>
          <a:xfrm>
            <a:off x="1588788" y="3766188"/>
            <a:ext cx="237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torque from motor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Function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17" name="Google Shape;21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958225"/>
            <a:ext cx="7350499" cy="2054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dfrac{\\dot{\\phi}}{v_{\\left(s\\right)}}=\\,\\dfrac{r\\,g\\,\\,\\dfrac{km}{R}}{\\dot{J_{w}S}\\,+\\,\\left(B\\,+\\dfrac{K_{b}K_{m}}{R}\\right)}$$&quot;,&quot;type&quot;:&quot;$$&quot;,&quot;id&quot;:&quot;22&quot;,&quot;backgroundColor&quot;:&quot;#FFFFFF&quot;,&quot;font&quot;:{&quot;family&quot;:&quot;Arial&quot;,&quot;color&quot;:&quot;#000000&quot;,&quot;size&quot;:12},&quot;backgroundColorModified&quot;:false,&quot;aid&quot;:null,&quot;ts&quot;:1759123524328,&quot;cs&quot;:&quot;MWY8bSgJ7zvKEfmKFhdUog==&quot;,&quot;size&quot;:{&quot;width&quot;:258.79999999999995,&quot;height&quot;:92}}" id="218" name="Google Shape;21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6550" y="3214000"/>
            <a:ext cx="2986701" cy="10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9"/>
          <p:cNvSpPr txBox="1"/>
          <p:nvPr/>
        </p:nvSpPr>
        <p:spPr>
          <a:xfrm>
            <a:off x="407175" y="3560213"/>
            <a:ext cx="372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 first-order system between voltage and wheel speed: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Transfer Function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\\dfrac{\\dot{\\phi}}{v_{\\left(s\\right)}}=\\,\\dfrac{r\\,g\\,\\,\\dfrac{km}{R}}{\\dot{J_{w}S}\\,+\\,\\left(B\\,+\\dfrac{K_{b}K_{m}}{R}\\right)}$$&quot;,&quot;type&quot;:&quot;$$&quot;,&quot;id&quot;:&quot;22&quot;,&quot;backgroundColor&quot;:&quot;#FFFFFF&quot;,&quot;font&quot;:{&quot;family&quot;:&quot;Arial&quot;,&quot;color&quot;:&quot;#000000&quot;,&quot;size&quot;:12},&quot;backgroundColorModified&quot;:false,&quot;aid&quot;:null,&quot;ts&quot;:1759123524328,&quot;cs&quot;:&quot;MWY8bSgJ7zvKEfmKFhdUog==&quot;,&quot;size&quot;:{&quot;width&quot;:258.79999999999995,&quot;height&quot;:92}}" id="225" name="Google Shape;22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975" y="1829800"/>
            <a:ext cx="2986701" cy="10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0"/>
          <p:cNvSpPr txBox="1"/>
          <p:nvPr/>
        </p:nvSpPr>
        <p:spPr>
          <a:xfrm>
            <a:off x="407175" y="1076200"/>
            <a:ext cx="4573800" cy="3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: gear ratio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: electrical resistance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​: wheel inertia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: damping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: torque constant</a:t>
            </a:r>
            <a:b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       : back-EMF constant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id&quot;:&quot;23&quot;,&quot;code&quot;:&quot;$$r_{g}$$&quot;,&quot;font&quot;:{&quot;size&quot;:29,&quot;family&quot;:&quot;Arial&quot;,&quot;color&quot;:&quot;#000000&quot;},&quot;backgroundColorModified&quot;:false,&quot;type&quot;:&quot;$$&quot;,&quot;backgroundColor&quot;:&quot;#FFFFFF&quot;,&quot;aid&quot;:null,&quot;ts&quot;:1759124026963,&quot;cs&quot;:&quot;yuU0u7nHUDA0inp1KSm7ow==&quot;,&quot;size&quot;:{&quot;width&quot;:36.5,&quot;height&quot;:33.666666666666664}}" id="227" name="Google Shape;22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7325" y="1141950"/>
            <a:ext cx="347663" cy="32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R$$&quot;,&quot;font&quot;:{&quot;size&quot;:29,&quot;color&quot;:&quot;#000000&quot;,&quot;family&quot;:&quot;Arial&quot;},&quot;aid&quot;:null,&quot;backgroundColorModified&quot;:false,&quot;backgroundColor&quot;:&quot;#FFFFFF&quot;,&quot;id&quot;:&quot;24&quot;,&quot;type&quot;:&quot;$$&quot;,&quot;ts&quot;:1759124052527,&quot;cs&quot;:&quot;pybdMmsIhh+ZCUMeqdNbNw==&quot;,&quot;size&quot;:{&quot;width&quot;:33,&quot;height&quot;:32}}" id="228" name="Google Shape;22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4000" y="1697375"/>
            <a:ext cx="3143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$$J_{w}$$&quot;,&quot;backgroundColorModified&quot;:false,&quot;type&quot;:&quot;$$&quot;,&quot;backgroundColor&quot;:&quot;#FFFFFF&quot;,&quot;id&quot;:&quot;25&quot;,&quot;font&quot;:{&quot;family&quot;:&quot;Arial&quot;,&quot;color&quot;:&quot;#000000&quot;,&quot;size&quot;:29},&quot;ts&quot;:1759124064737,&quot;cs&quot;:&quot;lOCyHZsyD7VlfXByONuczQ==&quot;,&quot;size&quot;:{&quot;width&quot;:46.333333333333336,&quot;height&quot;:38.166666666666664}}" id="229" name="Google Shape;22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575" y="2236925"/>
            <a:ext cx="441325" cy="363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aid&quot;:null,&quot;type&quot;:&quot;$$&quot;,&quot;id&quot;:&quot;26&quot;,&quot;font&quot;:{&quot;size&quot;:29,&quot;family&quot;:&quot;Arial&quot;,&quot;color&quot;:&quot;#000000&quot;},&quot;code&quot;:&quot;$$B_{w}$$&quot;,&quot;ts&quot;:1759124075244,&quot;cs&quot;:&quot;Hag8Ehbcd4T4xakvP0xmsA==&quot;,&quot;size&quot;:{&quot;width&quot;:56.5,&quot;height&quot;:38.166666666666664}}" id="230" name="Google Shape;230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4000" y="2835213"/>
            <a:ext cx="538163" cy="363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aid&quot;:null,&quot;id&quot;:&quot;27&quot;,&quot;backgroundColor&quot;:&quot;#FFFFFF&quot;,&quot;font&quot;:{&quot;color&quot;:&quot;#000000&quot;,&quot;family&quot;:&quot;Arial&quot;,&quot;size&quot;:29},&quot;code&quot;:&quot;$$K_{m}$$&quot;,&quot;ts&quot;:1759124084737,&quot;cs&quot;:&quot;7iNmHYGGgbfp1rvtG/+bYA==&quot;,&quot;size&quot;:{&quot;width&quot;:66.16666666666667,&quot;height&quot;:38.166666666666664}}" id="231" name="Google Shape;231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57963" y="3373688"/>
            <a:ext cx="630238" cy="363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K_{b}$$&quot;,&quot;id&quot;:&quot;28&quot;,&quot;aid&quot;:null,&quot;type&quot;:&quot;$$&quot;,&quot;backgroundColorModified&quot;:false,&quot;backgroundColor&quot;:&quot;#FFFFFF&quot;,&quot;font&quot;:{&quot;family&quot;:&quot;Arial&quot;,&quot;size&quot;:29,&quot;color&quot;:&quot;#000000&quot;},&quot;ts&quot;:1759124096521,&quot;cs&quot;:&quot;rITKTzwoLGH+hOLTfLHUyA==&quot;,&quot;size&quot;:{&quot;width&quot;:52.333333333333336,&quot;height&quot;:38.166666666666664}}" id="232" name="Google Shape;232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04000" y="3912175"/>
            <a:ext cx="498475" cy="3635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 Speed Control with PID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8" name="Google Shape;23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0025" y="1178450"/>
            <a:ext cx="5099532" cy="106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family&quot;:&quot;Arial&quot;,&quot;size&quot;:14.5,&quot;color&quot;:&quot;#000000&quot;},&quot;type&quot;:&quot;$$&quot;,&quot;aid&quot;:null,&quot;backgroundColorModified&quot;:false,&quot;backgroundColor&quot;:&quot;#FFFFFF&quot;,&quot;id&quot;:&quot;29&quot;,&quot;code&quot;:&quot;$$\\dot{\\phi_{c}}$$&quot;,&quot;ts&quot;:1759125732253,&quot;cs&quot;:&quot;v9GYRHqH74sTTLOI2yYgfw==&quot;,&quot;size&quot;:{&quot;width&quot;:20.333333333333332,&quot;height&quot;:25.666666666666668}}" id="239" name="Google Shape;23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550" y="1076200"/>
            <a:ext cx="193675" cy="24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Modified&quot;:false,&quot;code&quot;:&quot;$$\\dot{\\phi_{w}}$$&quot;,&quot;type&quot;:&quot;$$&quot;,&quot;id&quot;:&quot;30&quot;,&quot;font&quot;:{&quot;family&quot;:&quot;Arial&quot;,&quot;size&quot;:14.5,&quot;color&quot;:&quot;#000000&quot;},&quot;backgroundColor&quot;:&quot;#FFFFFF&quot;,&quot;ts&quot;:1759125748803,&quot;cs&quot;:&quot;z8ZEjMViAh1tAE3v92OdjA==&quot;,&quot;size&quot;:{&quot;width&quot;:24.5,&quot;height&quot;:25.666666666666668}}" id="240" name="Google Shape;24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9550" y="1258350"/>
            <a:ext cx="233363" cy="244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dot{\\phi_{c}}\\,=\\,$$&quot;,&quot;id&quot;:&quot;31&quot;,&quot;type&quot;:&quot;$$&quot;,&quot;backgroundColor&quot;:&quot;#FFFFFF&quot;,&quot;font&quot;:{&quot;size&quot;:12,&quot;color&quot;:&quot;#000000&quot;,&quot;family&quot;:&quot;Arial&quot;},&quot;aid&quot;:null,&quot;backgroundColorModified&quot;:false,&quot;ts&quot;:1759126166919,&quot;cs&quot;:&quot;4pkeJ+KnmxSNd2GU7rdH5Q==&quot;,&quot;size&quot;:{&quot;width&quot;:39.666666666666664,&quot;height&quot;:21.166666666666668}}" id="241" name="Google Shape;241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2375" y="3381800"/>
            <a:ext cx="560050" cy="29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32&quot;,&quot;backgroundColor&quot;:&quot;#FFFFFF&quot;,&quot;aid&quot;:null,&quot;backgroundColorModified&quot;:false,&quot;code&quot;:&quot;$$\\dot{\\phi_{c}}\\,-\\,\\dot{\\phi_{w}\\,}\\,=\\,Error$$&quot;,&quot;font&quot;:{&quot;family&quot;:&quot;Arial&quot;,&quot;size&quot;:12,&quot;color&quot;:&quot;#000000&quot;},&quot;ts&quot;:1759126259574,&quot;cs&quot;:&quot;nqEbkLZMeb5y9XsDwjYjCw==&quot;,&quot;size&quot;:{&quot;width&quot;:152.16666666666666,&quot;height&quot;:21.166666666666668}}" id="242" name="Google Shape;242;p3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2375" y="2789100"/>
            <a:ext cx="2148312" cy="29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font&quot;:{&quot;family&quot;:&quot;Arial&quot;,&quot;color&quot;:&quot;#000000&quot;,&quot;size&quot;:12},&quot;id&quot;:&quot;33&quot;,&quot;backgroundColorModified&quot;:false,&quot;aid&quot;:null,&quot;type&quot;:&quot;$$&quot;,&quot;code&quot;:&quot;$$\\dfrac{1}{s\\,+\\,\\lambda}\\,=\\,$$&quot;,&quot;ts&quot;:1759126301311,&quot;cs&quot;:&quot;aBGJQzabHtFwq536JKCZ8g==&quot;,&quot;size&quot;:{&quot;width&quot;:77,&quot;height&quot;:39.666666666666664}}" id="243" name="Google Shape;243;p3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2375" y="3897919"/>
            <a:ext cx="733425" cy="37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1"/>
          <p:cNvSpPr txBox="1"/>
          <p:nvPr/>
        </p:nvSpPr>
        <p:spPr>
          <a:xfrm>
            <a:off x="1269150" y="3886725"/>
            <a:ext cx="51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Approximated wheel + motor dynamics (first-order response)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1332075" y="3331113"/>
            <a:ext cx="5190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Desired wheel speed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2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 Speed to </a:t>
            </a: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</a:t>
            </a: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motion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aid&quot;:null,&quot;backgroundColorModified&quot;:false,&quot;type&quot;:&quot;$$&quot;,&quot;id&quot;:&quot;30&quot;,&quot;code&quot;:&quot;$$\\dot{q}\\,=\\,J\\left(q\\right)\\,\\dot{\\phi_{w}}$$&quot;,&quot;backgroundColor&quot;:&quot;#FFFFFF&quot;,&quot;font&quot;:{&quot;family&quot;:&quot;Arial&quot;,&quot;size&quot;:14.5,&quot;color&quot;:&quot;#000000&quot;},&quot;ts&quot;:1759126753458,&quot;cs&quot;:&quot;U/VrikBxfgi7gv6LPCWFRw==&quot;,&quot;size&quot;:{&quot;width&quot;:122.83333333333333,&quot;height&quot;:26.666666666666668}}" id="251" name="Google Shape;25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8150" y="2973425"/>
            <a:ext cx="1736250" cy="376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color&quot;:&quot;#000000&quot;,&quot;size&quot;:14.5,&quot;family&quot;:&quot;Arial&quot;},&quot;type&quot;:&quot;$$&quot;,&quot;backgroundColorModified&quot;:false,&quot;backgroundColor&quot;:&quot;#FFFFFF&quot;,&quot;aid&quot;:null,&quot;id&quot;:&quot;35&quot;,&quot;code&quot;:&quot;$$J\\left(q\\right)=\\,$$&quot;,&quot;ts&quot;:1759126806269,&quot;cs&quot;:&quot;fh5t87Bl0ESLaWqNCd9f1w==&quot;,&quot;size&quot;:{&quot;width&quot;:67.66666666666667,&quot;height&quot;:22.666666666666668}}" id="252" name="Google Shape;25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862" y="3732950"/>
            <a:ext cx="853500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36&quot;,&quot;backgroundColorModified&quot;:false,&quot;type&quot;:&quot;$$&quot;,&quot;code&quot;:&quot;$$q\\,=\\,\\begin{bmatrix}\n{x}\\\\\n{y}\\\\\n{\\theta}\\\\\n\\end{bmatrix}$$&quot;,&quot;font&quot;:{&quot;size&quot;:14.5,&quot;color&quot;:&quot;#000000&quot;,&quot;family&quot;:&quot;Arial&quot;},&quot;backgroundColor&quot;:&quot;#FFFFFF&quot;,&quot;aid&quot;:null,&quot;ts&quot;:1759126844922,&quot;cs&quot;:&quot;wt5z7LAfPO18t90v+wJymw==&quot;,&quot;size&quot;:{&quot;width&quot;:83.5,&quot;height&quot;:86.16666666666667}}" id="253" name="Google Shape;2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55637" y="1070950"/>
            <a:ext cx="795338" cy="820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\\dot{\\phi_{w}}=$$&quot;,&quot;id&quot;:&quot;37&quot;,&quot;backgroundColorModified&quot;:false,&quot;backgroundColor&quot;:&quot;#FFFFFF&quot;,&quot;font&quot;:{&quot;family&quot;:&quot;Arial&quot;,&quot;color&quot;:&quot;#000000&quot;,&quot;size&quot;:14.5},&quot;aid&quot;:null,&quot;ts&quot;:1759126870975,&quot;cs&quot;:&quot;vkz6fjjtuh0oQwhFCxWJMw==&quot;,&quot;size&quot;:{&quot;width&quot;:48.666666666666664,&quot;height&quot;:25.666666666666668}}" id="254" name="Google Shape;254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113" y="2239425"/>
            <a:ext cx="626283" cy="33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2"/>
          <p:cNvSpPr txBox="1"/>
          <p:nvPr/>
        </p:nvSpPr>
        <p:spPr>
          <a:xfrm>
            <a:off x="306300" y="1250475"/>
            <a:ext cx="300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 Pose :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32"/>
          <p:cNvSpPr txBox="1"/>
          <p:nvPr/>
        </p:nvSpPr>
        <p:spPr>
          <a:xfrm>
            <a:off x="1408150" y="2175750"/>
            <a:ext cx="249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 angular velocities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7" name="Google Shape;257;p32"/>
          <p:cNvSpPr txBox="1"/>
          <p:nvPr/>
        </p:nvSpPr>
        <p:spPr>
          <a:xfrm>
            <a:off x="306300" y="2921500"/>
            <a:ext cx="1101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Relation: 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32"/>
          <p:cNvSpPr txBox="1"/>
          <p:nvPr/>
        </p:nvSpPr>
        <p:spPr>
          <a:xfrm>
            <a:off x="1560550" y="3645050"/>
            <a:ext cx="587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Jacobian that maps wheel speeds to robot body velocities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3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Jacobian for Differential Drive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aid&quot;:null,&quot;type&quot;:&quot;$$&quot;,&quot;backgroundColor&quot;:&quot;#FFFFFF&quot;,&quot;backgroundColorModified&quot;:false,&quot;code&quot;:&quot;$$J\\left(q\\right)=\\,\\,\\dfrac{r_{w}}{2}\\begin{bmatrix}\n{\\cos\\theta}&amp;{\\cos\\theta}\\\\\n{\\sin\\theta}&amp;{\\sin\\theta}\\\\\n{\\dfrac{1}{L}}&amp;{\\dfrac{1}{L}}\\\\\n\\end{bmatrix}$$&quot;,&quot;font&quot;:{&quot;family&quot;:&quot;Arial&quot;,&quot;size&quot;:19,&quot;color&quot;:&quot;#000000&quot;},&quot;id&quot;:&quot;35&quot;,&quot;ts&quot;:1759127269786,&quot;cs&quot;:&quot;11D/UhoUyRnY1hwCCBj11w==&quot;,&quot;size&quot;:{&quot;width&quot;:329.75,&quot;height&quot;:143.5}}" id="264" name="Google Shape;26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100" y="1140350"/>
            <a:ext cx="3289203" cy="143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id&quot;:&quot;38&quot;,&quot;font&quot;:{&quot;color&quot;:&quot;#000000&quot;,&quot;size&quot;:19,&quot;family&quot;:&quot;Arial&quot;},&quot;backgroundColorModified&quot;:false,&quot;backgroundColor&quot;:&quot;#FFFFFF&quot;,&quot;code&quot;:&quot;$$r_{w\\,}=\\,$$&quot;,&quot;ts&quot;:1759127338015,&quot;cs&quot;:&quot;tU1tQppx8cl0IJjuidIWag==&quot;,&quot;size&quot;:{&quot;width&quot;:65,&quot;height&quot;:18}}" id="265" name="Google Shape;26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0100" y="3111279"/>
            <a:ext cx="727007" cy="20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font&quot;:{&quot;size&quot;:19,&quot;family&quot;:&quot;Arial&quot;,&quot;color&quot;:&quot;#000000&quot;},&quot;aid&quot;:null,&quot;type&quot;:&quot;$$&quot;,&quot;id&quot;:&quot;39&quot;,&quot;backgroundColorModified&quot;:false,&quot;code&quot;:&quot;$$L\\,=\\,$$&quot;,&quot;ts&quot;:1759127348047,&quot;cs&quot;:&quot;eZRCXl2xm5TlGEFF4Bol+g==&quot;,&quot;size&quot;:{&quot;width&quot;:54,&quot;height&quot;:20.5}}" id="266" name="Google Shape;26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0100" y="3822225"/>
            <a:ext cx="650725" cy="2470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33"/>
          <p:cNvSpPr txBox="1"/>
          <p:nvPr/>
        </p:nvSpPr>
        <p:spPr>
          <a:xfrm>
            <a:off x="1808850" y="2941763"/>
            <a:ext cx="215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 radius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33"/>
          <p:cNvSpPr txBox="1"/>
          <p:nvPr/>
        </p:nvSpPr>
        <p:spPr>
          <a:xfrm>
            <a:off x="1808850" y="3676150"/>
            <a:ext cx="4176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half the wheelbase (distance from center to wheel)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Nonholonomic Constraint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34"/>
          <p:cNvSpPr txBox="1"/>
          <p:nvPr/>
        </p:nvSpPr>
        <p:spPr>
          <a:xfrm>
            <a:off x="475800" y="1076200"/>
            <a:ext cx="48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Robot cannot move sideways (no velocity in body-y direction).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aid&quot;:null,&quot;type&quot;:&quot;$$&quot;,&quot;font&quot;:{&quot;size&quot;:19,&quot;color&quot;:&quot;#000000&quot;,&quot;family&quot;:&quot;Arial&quot;},&quot;backgroundColor&quot;:&quot;#FFFFFF&quot;,&quot;backgroundColorModified&quot;:false,&quot;code&quot;:&quot;$$\\dot{x}\\,\\sin\\theta\\,-\\,\\dot{y\\,}\\cos\\theta\\,=\\,0$$&quot;,&quot;id&quot;:&quot;40&quot;,&quot;ts&quot;:1759127561632,&quot;cs&quot;:&quot;h5dfkPWIhppN0dYOXUfrcw==&quot;,&quot;size&quot;:{&quot;width&quot;:274,&quot;height&quot;:27.25}}" id="275" name="Google Shape;27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800" y="1788575"/>
            <a:ext cx="2609850" cy="259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code&quot;:&quot;$$\\dot{x}\\,\\sin\\theta\\,=\\,\\dot{y\\,}\\cos\\theta\\,$$&quot;,&quot;backgroundColorModified&quot;:false,&quot;type&quot;:&quot;$$&quot;,&quot;font&quot;:{&quot;size&quot;:19,&quot;color&quot;:&quot;#000000&quot;,&quot;family&quot;:&quot;Arial&quot;},&quot;id&quot;:&quot;41&quot;,&quot;backgroundColor&quot;:&quot;#FFFFFF&quot;,&quot;ts&quot;:1759127596051,&quot;cs&quot;:&quot;lWCOqJM6euWe1TS2saOJMw==&quot;,&quot;size&quot;:{&quot;width&quot;:213.83333333333334,&quot;height&quot;:27.166666666666668}}" id="276" name="Google Shape;27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800" y="2451903"/>
            <a:ext cx="2552926" cy="324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4"/>
          <p:cNvSpPr txBox="1"/>
          <p:nvPr/>
        </p:nvSpPr>
        <p:spPr>
          <a:xfrm>
            <a:off x="475800" y="3114425"/>
            <a:ext cx="24774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This reduces motion to two DOFs: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Linear velocity v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Angular velocity ω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Modified&quot;:false,&quot;type&quot;:&quot;$$&quot;,&quot;aid&quot;:null,&quot;code&quot;:&quot;$$V\\,=\\,\\begin{bmatrix}\n{v}\\\\\n{w}\\\\\n\\end{bmatrix}$$&quot;,&quot;font&quot;:{&quot;size&quot;:19,&quot;color&quot;:&quot;#000000&quot;,&quot;family&quot;:&quot;Arial&quot;},&quot;id&quot;:&quot;42&quot;,&quot;backgroundColor&quot;:&quot;#FFFFFF&quot;,&quot;ts&quot;:1759127711051,&quot;cs&quot;:&quot;U4R7qzBLjHuKDyxGyjez2w==&quot;,&quot;size&quot;:{&quot;width&quot;:116.16666666666667,&quot;height&quot;:71.33333333333333}}" id="278" name="Google Shape;278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28725" y="3381800"/>
            <a:ext cx="1106488" cy="67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Robot Dynamic Model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35"/>
          <p:cNvSpPr txBox="1"/>
          <p:nvPr/>
        </p:nvSpPr>
        <p:spPr>
          <a:xfrm>
            <a:off x="491525" y="903175"/>
            <a:ext cx="482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General dynamic equation of mobile robot: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$&quot;,&quot;font&quot;:{&quot;color&quot;:&quot;#000000&quot;,&quot;family&quot;:&quot;Arial&quot;,&quot;size&quot;:30.5},&quot;code&quot;:&quot;$$M\\left(q\\right)​\\ddot{q}​+C\\left(q,\\dot{q}\\right)\\dot{q}​​+\\Delta​=B\\left(q\\right)\\tau$$&quot;,&quot;backgroundColorModified&quot;:false,&quot;backgroundColor&quot;:&quot;#FFFFFF&quot;,&quot;id&quot;:&quot;25&quot;,&quot;aid&quot;:null,&quot;ts&quot;:1759130601355,&quot;cs&quot;:&quot;wyFXMh+5WMK28R3mB2ZlBg==&quot;,&quot;size&quot;:{&quot;width&quot;:638,&quot;height&quot;:48.00000000000002}}" id="285" name="Google Shape;28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003" y="1550325"/>
            <a:ext cx="6076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font&quot;:{&quot;color&quot;:&quot;#000000&quot;,&quot;family&quot;:&quot;Arial&quot;,&quot;size&quot;:30.5},&quot;type&quot;:&quot;$$&quot;,&quot;aid&quot;:null,&quot;code&quot;:&quot;$$M\\left(q\\right)​\\,=$$&quot;,&quot;backgroundColor&quot;:&quot;#FFFFFF&quot;,&quot;id&quot;:&quot;43&quot;,&quot;ts&quot;:1759128356376,&quot;cs&quot;:&quot;wdXjGQz7iNIIqfTAjqqIsQ==&quot;,&quot;size&quot;:{&quot;width&quot;:166,&quot;height&quot;:47.833333333333336}}" id="286" name="Google Shape;28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625" y="2279250"/>
            <a:ext cx="1052969" cy="303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C\\left(q,\\dot{q}\\right)\\dot{q}\\,=​​$$&quot;,&quot;backgroundColor&quot;:&quot;#FFFFFF&quot;,&quot;backgroundColorModified&quot;:false,&quot;id&quot;:&quot;44&quot;,&quot;type&quot;:&quot;$$&quot;,&quot;font&quot;:{&quot;size&quot;:30.5,&quot;family&quot;:&quot;Arial&quot;,&quot;color&quot;:&quot;#000000&quot;},&quot;aid&quot;:null,&quot;ts&quot;:1759128391388,&quot;cs&quot;:&quot;iexNICb5ex2sNhBMpGZnYg==&quot;,&quot;size&quot;:{&quot;width&quot;:221.79999999999995,&quot;height&quot;:47.80000000000001}}" id="287" name="Google Shape;28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2913" y="2687803"/>
            <a:ext cx="1195056" cy="257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Delta\\,=$$&quot;,&quot;backgroundColor&quot;:&quot;#FFFFFF&quot;,&quot;id&quot;:&quot;45&quot;,&quot;aid&quot;:null,&quot;font&quot;:{&quot;color&quot;:&quot;#000000&quot;,&quot;size&quot;:30.5,&quot;family&quot;:&quot;Arial&quot;},&quot;type&quot;:&quot;$$&quot;,&quot;backgroundColorModified&quot;:false,&quot;ts&quot;:1759128405490,&quot;cs&quot;:&quot;9IiFuHMrZ901EIpRuOQCFg==&quot;,&quot;size&quot;:{&quot;width&quot;:93.33333333333333,&quot;height&quot;:34.166666666666664}}" id="288" name="Google Shape;288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3025" y="3050450"/>
            <a:ext cx="555096" cy="20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color&quot;:&quot;#000000&quot;,&quot;size&quot;:30.5,&quot;family&quot;:&quot;Arial&quot;},&quot;backgroundColorModified&quot;:false,&quot;backgroundColor&quot;:&quot;#FFFFFF&quot;,&quot;id&quot;:&quot;46&quot;,&quot;type&quot;:&quot;$$&quot;,&quot;code&quot;:&quot;$$B\\left(q\\right)=$$&quot;,&quot;ts&quot;:1759128443513,&quot;cs&quot;:&quot;Xm53MSq0W6cGuX6C1vNS7Q==&quot;,&quot;size&quot;:{&quot;width&quot;:149.33333333333334,&quot;height&quot;:47.833333333333336}}" id="289" name="Google Shape;289;p3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82675" y="3449373"/>
            <a:ext cx="803992" cy="257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35"/>
          <p:cNvSpPr txBox="1"/>
          <p:nvPr/>
        </p:nvSpPr>
        <p:spPr>
          <a:xfrm>
            <a:off x="1903250" y="2222800"/>
            <a:ext cx="18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inertia (mass) matrix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35"/>
          <p:cNvSpPr txBox="1"/>
          <p:nvPr/>
        </p:nvSpPr>
        <p:spPr>
          <a:xfrm>
            <a:off x="1927975" y="2616463"/>
            <a:ext cx="231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Coriolis / centrifugal matrix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35"/>
          <p:cNvSpPr txBox="1"/>
          <p:nvPr/>
        </p:nvSpPr>
        <p:spPr>
          <a:xfrm>
            <a:off x="1436425" y="2979725"/>
            <a:ext cx="339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disturbances (friction, external forces)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35"/>
          <p:cNvSpPr txBox="1"/>
          <p:nvPr/>
        </p:nvSpPr>
        <p:spPr>
          <a:xfrm>
            <a:off x="1561625" y="3414325"/>
            <a:ext cx="18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mapping matrix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font&quot;:{&quot;family&quot;:&quot;Arial&quot;,&quot;color&quot;:&quot;#000000&quot;,&quot;size&quot;:30.5},&quot;code&quot;:&quot;$$\\tau \\,=$$&quot;,&quot;type&quot;:&quot;$$&quot;,&quot;backgroundColorModified&quot;:false,&quot;aid&quot;:null,&quot;id&quot;:&quot;47&quot;,&quot;ts&quot;:1759128640756,&quot;cs&quot;:&quot;NdalyCso1fYcDqxnM68E/A==&quot;,&quot;size&quot;:{&quot;width&quot;:79.5,&quot;height&quot;:21.333333333333332}}" id="294" name="Google Shape;294;p3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6050" y="3885150"/>
            <a:ext cx="757238" cy="203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5"/>
          <p:cNvSpPr txBox="1"/>
          <p:nvPr/>
        </p:nvSpPr>
        <p:spPr>
          <a:xfrm>
            <a:off x="1463300" y="3776350"/>
            <a:ext cx="1809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Wheel torques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Inertia and Coriolis Matrices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Modified&quot;:false,&quot;backgroundColor&quot;:&quot;#FFFFFF&quot;,&quot;type&quot;:&quot;$$&quot;,&quot;code&quot;:&quot;$$\\dot{q}=\\,T_{v}V$$&quot;,&quot;font&quot;:{&quot;color&quot;:&quot;#220337&quot;,&quot;size&quot;:24,&quot;family&quot;:&quot;Arial&quot;},&quot;id&quot;:&quot;48&quot;,&quot;aid&quot;:null,&quot;ts&quot;:1759128999206,&quot;cs&quot;:&quot;LQUJGNVGPzBM2zhSNlz1dA==&quot;,&quot;size&quot;:{&quot;width&quot;:139.16666666666666,&quot;height&quot;:33.166666666666664}}" id="301" name="Google Shape;30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38" y="1517405"/>
            <a:ext cx="1325562" cy="315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ddot{q}=\\,\\dot{T}_{v}V+T_{v}\\dot{V}$$&quot;,&quot;backgroundColor&quot;:&quot;#FFFFFF&quot;,&quot;font&quot;:{&quot;size&quot;:24,&quot;family&quot;:&quot;Arial&quot;,&quot;color&quot;:&quot;#000000&quot;},&quot;aid&quot;:null,&quot;type&quot;:&quot;$$&quot;,&quot;id&quot;:&quot;49&quot;,&quot;backgroundColorModified&quot;:false,&quot;ts&quot;:1759128948102,&quot;cs&quot;:&quot;HhS8wYTNJX5rjkszvKYBTw==&quot;,&quot;size&quot;:{&quot;width&quot;:252,&quot;height&quot;:41.600000000000016}}" id="302" name="Google Shape;302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850" y="2076300"/>
            <a:ext cx="2400300" cy="39624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6"/>
          <p:cNvSpPr txBox="1"/>
          <p:nvPr/>
        </p:nvSpPr>
        <p:spPr>
          <a:xfrm>
            <a:off x="407175" y="1006700"/>
            <a:ext cx="45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 Relations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code&quot;:&quot;$$T_{v}\\left(\\theta\\right)\\,=\\,\\begin{bmatrix}\n{\\cos\\theta}&amp;{0}\\\\\n{\\sin\\theta}&amp;{0}\\\\\n{0}&amp;{1}\\\\\n\\end{bmatrix}$$&quot;,&quot;id&quot;:&quot;52&quot;,&quot;backgroundColorModified&quot;:false,&quot;type&quot;:&quot;$$&quot;,&quot;aid&quot;:null,&quot;font&quot;:{&quot;color&quot;:&quot;#000000&quot;,&quot;size&quot;:24,&quot;family&quot;:&quot;Arial&quot;},&quot;ts&quot;:1759129377824,&quot;cs&quot;:&quot;1Ie3VY7BhvTCI4hJGrs8YQ==&quot;,&quot;size&quot;:{&quot;width&quot;:321.5,&quot;height&quot;:142.75}}" id="304" name="Google Shape;30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92300" y="2618950"/>
            <a:ext cx="3062288" cy="135969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type&quot;:&quot;$$&quot;,&quot;id&quot;:&quot;53&quot;,&quot;font&quot;:{&quot;color&quot;:&quot;#000000&quot;,&quot;family&quot;:&quot;Arial&quot;,&quot;size&quot;:24},&quot;backgroundColorModified&quot;:false,&quot;code&quot;:&quot;$$\\dot{q}\\,=\\,T_{v}\\left(\\theta\\right)V$$&quot;,&quot;ts&quot;:1759129429662,&quot;cs&quot;:&quot;7DBHtbnQNqDOxheDYT/KlQ==&quot;,&quot;size&quot;:{&quot;width&quot;:198.5,&quot;height&quot;:37.666666666666664}}" id="305" name="Google Shape;305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375" y="2990750"/>
            <a:ext cx="1890713" cy="35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Inertia and Coriolis Matrices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Modified&quot;:false,&quot;backgroundColor&quot;:&quot;#FFFFFF&quot;,&quot;type&quot;:&quot;$$&quot;,&quot;code&quot;:&quot;$$\\dot{q}=\\,T_{v}V$$&quot;,&quot;font&quot;:{&quot;color&quot;:&quot;#220337&quot;,&quot;size&quot;:24,&quot;family&quot;:&quot;Arial&quot;},&quot;id&quot;:&quot;48&quot;,&quot;aid&quot;:null,&quot;ts&quot;:1759128999206,&quot;cs&quot;:&quot;LQUJGNVGPzBM2zhSNlz1dA==&quot;,&quot;size&quot;:{&quot;width&quot;:139.16666666666666,&quot;height&quot;:33.166666666666664}}" id="311" name="Google Shape;311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5988" y="1732755"/>
            <a:ext cx="1325562" cy="3159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ddot{q}=\\,\\dot{T}_{v}V+T_{v}\\dot{V}$$&quot;,&quot;backgroundColor&quot;:&quot;#FFFFFF&quot;,&quot;font&quot;:{&quot;size&quot;:24,&quot;family&quot;:&quot;Arial&quot;,&quot;color&quot;:&quot;#000000&quot;},&quot;aid&quot;:null,&quot;type&quot;:&quot;$$&quot;,&quot;id&quot;:&quot;49&quot;,&quot;backgroundColorModified&quot;:false,&quot;ts&quot;:1759128948102,&quot;cs&quot;:&quot;HhS8wYTNJX5rjkszvKYBTw==&quot;,&quot;size&quot;:{&quot;width&quot;:252,&quot;height&quot;:41.600000000000016}}" id="312" name="Google Shape;312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2275" y="1652425"/>
            <a:ext cx="2400300" cy="39624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7"/>
          <p:cNvSpPr txBox="1"/>
          <p:nvPr/>
        </p:nvSpPr>
        <p:spPr>
          <a:xfrm>
            <a:off x="407175" y="1006700"/>
            <a:ext cx="45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Transformation Relations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code&quot;:&quot;$$T_{v}\\left(\\theta\\right)\\,=\\,\\begin{bmatrix}\n{\\cos\\theta}&amp;{0}\\\\\n{\\sin\\theta}&amp;{0}\\\\\n{0}&amp;{1}\\\\\n\\end{bmatrix}$$&quot;,&quot;id&quot;:&quot;52&quot;,&quot;backgroundColorModified&quot;:false,&quot;type&quot;:&quot;$$&quot;,&quot;aid&quot;:null,&quot;font&quot;:{&quot;color&quot;:&quot;#000000&quot;,&quot;size&quot;:24,&quot;family&quot;:&quot;Arial&quot;},&quot;ts&quot;:1759129377824,&quot;cs&quot;:&quot;1Ie3VY7BhvTCI4hJGrs8YQ==&quot;,&quot;size&quot;:{&quot;width&quot;:321.5,&quot;height&quot;:142.75}}" id="314" name="Google Shape;314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1300" y="2571750"/>
            <a:ext cx="3062288" cy="1359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8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Inertia and Coriolis Matrices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M\\left(q\\right)\\,=\\begin{bmatrix}\n{m}&amp;{0}&amp;{-md\\sin\\theta}\\\\\n{0}&amp;{m}&amp;{md\\cos\\theta}\\\\\n{-md\\sin\\theta}&amp;{md\\cos\\theta}&amp;{I_{zz}}\\\\\n\\end{bmatrix}$$&quot;,&quot;id&quot;:&quot;50&quot;,&quot;backgroundColor&quot;:&quot;#FFFFFF&quot;,&quot;font&quot;:{&quot;size&quot;:24,&quot;family&quot;:&quot;Arial&quot;,&quot;color&quot;:&quot;#000000&quot;},&quot;backgroundColorModified&quot;:false,&quot;aid&quot;:null,&quot;type&quot;:&quot;$$&quot;,&quot;ts&quot;:1759129183721,&quot;cs&quot;:&quot;Awl4gPsXFmfSP4deVrYYug==&quot;,&quot;size&quot;:{&quot;width&quot;:709.5,&quot;height&quot;:143}}" id="320" name="Google Shape;32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250" y="1076200"/>
            <a:ext cx="6757988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C\\left(q,\\dot{q}\\right)\\,=\\,\\begin{bmatrix}\n{0}&amp;{0}&amp;{-md\\dot{\\theta}\\cos\\theta}\\\\\n{0}&amp;{0}&amp;{md\\dot{\\theta}\\sin\\theta}\\\\\n{0}&amp;{0}&amp;{0}\\\\\n\\end{bmatrix}$$&quot;,&quot;id&quot;:&quot;51&quot;,&quot;font&quot;:{&quot;size&quot;:24,&quot;color&quot;:&quot;#000000&quot;,&quot;family&quot;:&quot;Arial&quot;},&quot;type&quot;:&quot;$$&quot;,&quot;backgroundColorModified&quot;:false,&quot;aid&quot;:null,&quot;backgroundColor&quot;:&quot;#FFFFFF&quot;,&quot;ts&quot;:1759129297451,&quot;cs&quot;:&quot;rG4B5BOMAYcpwIXZ+Tw2Yg==&quot;,&quot;size&quot;:{&quot;width&quot;:506.99999999999994,&quot;height&quot;:164}}" id="321" name="Google Shape;32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7011" y="2713625"/>
            <a:ext cx="4829175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8"/>
          <p:cNvSpPr txBox="1"/>
          <p:nvPr/>
        </p:nvSpPr>
        <p:spPr>
          <a:xfrm>
            <a:off x="364050" y="1510025"/>
            <a:ext cx="146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Inertia Matrix: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3" name="Google Shape;323;p38"/>
          <p:cNvSpPr txBox="1"/>
          <p:nvPr/>
        </p:nvSpPr>
        <p:spPr>
          <a:xfrm>
            <a:off x="306300" y="3279125"/>
            <a:ext cx="1460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Coriolis</a:t>
            </a: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Matrix: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9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Property of Robot Dynamics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&quot;:&quot;#FFFFFF&quot;,&quot;id&quot;:&quot;54&quot;,&quot;code&quot;:&quot;$$\\dot{M}\\left(q\\right)\\,-\\,2C\\left(q,\\dot{q}\\right)$$&quot;,&quot;type&quot;:&quot;$$&quot;,&quot;backgroundColorModified&quot;:false,&quot;font&quot;:{&quot;color&quot;:&quot;#000000&quot;,&quot;family&quot;:&quot;Arial&quot;,&quot;size&quot;:24},&quot;aid&quot;:null,&quot;ts&quot;:1759129697372,&quot;cs&quot;:&quot;HGaM0ozsYJ5hjvErp7F4oQ==&quot;,&quot;size&quot;:{&quot;width&quot;:279.75,&quot;height&quot;:43.5}}" id="329" name="Google Shape;329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752" y="1203300"/>
            <a:ext cx="3135751" cy="487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55&quot;,&quot;type&quot;:&quot;$$&quot;,&quot;aid&quot;:null,&quot;backgroundColor&quot;:&quot;#FFFFFF&quot;,&quot;code&quot;:&quot;$$X^{T}\\,A\\,X\\,=\\,0$$&quot;,&quot;font&quot;:{&quot;size&quot;:24,&quot;color&quot;:&quot;#000000&quot;,&quot;family&quot;:&quot;Arial&quot;},&quot;backgroundColorModified&quot;:false,&quot;ts&quot;:1759129742159,&quot;cs&quot;:&quot;1kVoYZGJYBbIDHohnO2+8w==&quot;,&quot;size&quot;:{&quot;width&quot;:207.5,&quot;height&quot;:34.333333333333336}}" id="330" name="Google Shape;330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0875" y="2408225"/>
            <a:ext cx="1976438" cy="327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font&quot;:{&quot;family&quot;:&quot;Arial&quot;,&quot;color&quot;:&quot;#000000&quot;,&quot;size&quot;:24},&quot;code&quot;:&quot;$$A\\,=\\,-\\,A^{T}$$&quot;,&quot;backgroundColor&quot;:&quot;#FFFFFF&quot;,&quot;id&quot;:&quot;56&quot;,&quot;backgroundColorModified&quot;:false,&quot;ts&quot;:1759129763008,&quot;cs&quot;:&quot;fswgxj3aTrFFXOoA1WRJGA==&quot;,&quot;size&quot;:{&quot;width&quot;:173.16666666666666,&quot;height&quot;:33.5}}" id="331" name="Google Shape;331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89250" y="2472150"/>
            <a:ext cx="1649413" cy="319088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9"/>
          <p:cNvSpPr txBox="1"/>
          <p:nvPr/>
        </p:nvSpPr>
        <p:spPr>
          <a:xfrm>
            <a:off x="306300" y="1815600"/>
            <a:ext cx="45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Skew Symmetric Matrix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39"/>
          <p:cNvSpPr txBox="1"/>
          <p:nvPr/>
        </p:nvSpPr>
        <p:spPr>
          <a:xfrm>
            <a:off x="464025" y="3279550"/>
            <a:ext cx="5175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This equation guarantees energy conservation in robot dynamics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Useful in proving stability for control design (Lyapunov methods)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0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</a:t>
            </a: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</a:t>
            </a: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EOM of the robot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$&quot;,&quot;font&quot;:{&quot;color&quot;:&quot;#000000&quot;,&quot;family&quot;:&quot;Arial&quot;,&quot;size&quot;:30.5},&quot;code&quot;:&quot;$$M\\left(q\\right)​\\ddot{q}​+C\\left(q,\\dot{q}\\right)\\dot{q}​​+\\Delta​=B\\left(q\\right)\\tau$$&quot;,&quot;backgroundColorModified&quot;:false,&quot;backgroundColor&quot;:&quot;#FFFFFF&quot;,&quot;id&quot;:&quot;25&quot;,&quot;aid&quot;:null,&quot;ts&quot;:1759130601355,&quot;cs&quot;:&quot;wyFXMh+5WMK28R3mB2ZlBg==&quot;,&quot;size&quot;:{&quot;width&quot;:638,&quot;height&quot;:48.00000000000002}}" id="339" name="Google Shape;33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3928" y="1076200"/>
            <a:ext cx="60769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code&quot;:&quot;$$\\overline{M}\\left(q\\right)\\,\\dot{V}+\\,\\overline{C}\\left(q,\\dot{q}\\right)V\\,+\\,\\overline{\\Delta}=\\,\\overline{B}\\,\\left(q\\right)\\tau$$&quot;,&quot;aid&quot;:null,&quot;backgroundColorModified&quot;:false,&quot;id&quot;:&quot;58&quot;,&quot;type&quot;:&quot;$$&quot;,&quot;font&quot;:{&quot;family&quot;:&quot;Arial&quot;,&quot;size&quot;:30.5,&quot;color&quot;:&quot;#000000&quot;},&quot;ts&quot;:1759131121578,&quot;cs&quot;:&quot;nM+QQrb3HbGDESxbcSDgmA==&quot;,&quot;size&quot;:{&quot;width&quot;:733,&quot;height&quot;:57}}" id="340" name="Google Shape;340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7613" y="2300288"/>
            <a:ext cx="6981825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aid&quot;:null,&quot;type&quot;:&quot;$$&quot;,&quot;backgroundColor&quot;:&quot;#FFFFFF&quot;,&quot;id&quot;:&quot;59&quot;,&quot;code&quot;:&quot;$$\\dot{M}\\left(q\\right)\\,=\\,md\\dot{\\theta}\\cos\\theta$$&quot;,&quot;font&quot;:{&quot;size&quot;:30.5,&quot;color&quot;:&quot;#000000&quot;,&quot;family&quot;:&quot;Arial&quot;},&quot;ts&quot;:1759131176514,&quot;cs&quot;:&quot;NhTD+rg1yLXPwJeP26H85A==&quot;,&quot;size&quot;:{&quot;width&quot;:386,&quot;height&quot;:56.666666666666664}}" id="341" name="Google Shape;341;p4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66500" y="3373950"/>
            <a:ext cx="3676650" cy="5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1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 the EOM of the robot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7" name="Google Shape;347;p41"/>
          <p:cNvSpPr txBox="1"/>
          <p:nvPr/>
        </p:nvSpPr>
        <p:spPr>
          <a:xfrm>
            <a:off x="306300" y="1104925"/>
            <a:ext cx="45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Substituting relations into the EOM:</a:t>
            </a:r>
            <a:endParaRPr sz="17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M\\left(q\\right)\\left(T_{v}\\dot{v}\\,+\\,\\dot{T_{v}}v\\right)\\,+\\,C\\left(q,\\dot{q}\\right)\\,T_{v}v\\,+\\,T_{v}\\Delta\\,=\\,B\\tau$$&quot;,&quot;backgroundColor&quot;:&quot;#FFFFFF&quot;,&quot;id&quot;:&quot;57&quot;,&quot;backgroundColorModified&quot;:false,&quot;aid&quot;:null,&quot;type&quot;:&quot;$$&quot;,&quot;font&quot;:{&quot;size&quot;:22.5,&quot;family&quot;:&quot;Arial&quot;,&quot;color&quot;:&quot;#000000&quot;},&quot;ts&quot;:1759134256979,&quot;cs&quot;:&quot;Kpvw2SiJ9HbvpmWmngmXEQ==&quot;,&quot;size&quot;:{&quot;width&quot;:738,&quot;height&quot;:63.5}}" id="348" name="Google Shape;34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864" y="1758983"/>
            <a:ext cx="7029450" cy="604838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1"/>
          <p:cNvSpPr txBox="1"/>
          <p:nvPr/>
        </p:nvSpPr>
        <p:spPr>
          <a:xfrm>
            <a:off x="306300" y="2571475"/>
            <a:ext cx="453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Expand &amp; reorganize:</a:t>
            </a:r>
            <a:endParaRPr sz="17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0" name="Google Shape;35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550" y="3311250"/>
            <a:ext cx="7741939" cy="60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Velocity-Space Dynamics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font&quot;:{&quot;size&quot;:22.5,&quot;color&quot;:&quot;#000000&quot;,&quot;family&quot;:&quot;Arial&quot;},&quot;code&quot;:&quot;$$\\overline{M}\\left(q\\right)\\,=\\,T_{v}^{T}\\,M\\left(q\\right)\\,T_{v}$$&quot;,&quot;aid&quot;:null,&quot;backgroundColor&quot;:&quot;#FFFFFF&quot;,&quot;type&quot;:&quot;$$&quot;,&quot;backgroundColorModified&quot;:false,&quot;id&quot;:&quot;61&quot;,&quot;ts&quot;:1759134372853,&quot;cs&quot;:&quot;IdIIoDinkp1dYf30+cIpTQ==&quot;,&quot;size&quot;:{&quot;width&quot;:324,&quot;height&quot;:40.75}}" id="356" name="Google Shape;356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1219000"/>
            <a:ext cx="3086100" cy="3881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62&quot;,&quot;backgroundColorModified&quot;:false,&quot;type&quot;:&quot;$$&quot;,&quot;backgroundColor&quot;:&quot;#FFFFFF&quot;,&quot;code&quot;:&quot;$$\\overline{C}\\left(q,\\dot{q}\\right)\\,=\\,T_{v}^{T}\\left[M\\left(q\\right)\\dot{T_{v}}\\,+\\,C\\left(q,\\dot{q}\\right)T_{v}\\right]$$&quot;,&quot;font&quot;:{&quot;family&quot;:&quot;Arial&quot;,&quot;size&quot;:22.5,&quot;color&quot;:&quot;#000000&quot;},&quot;aid&quot;:null,&quot;ts&quot;:1759134499610,&quot;cs&quot;:&quot;qOAQWKUhCwXsZ79+7GHBjA==&quot;,&quot;size&quot;:{&quot;width&quot;:565.5,&quot;height&quot;:63.5}}" id="357" name="Google Shape;3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6300" y="1928588"/>
            <a:ext cx="5386388" cy="6048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id&quot;:&quot;63&quot;,&quot;backgroundColor&quot;:&quot;#FFFFFF&quot;,&quot;code&quot;:&quot;$$\\overline{B}\\,=\\,T_{v}^{T}\\,B\\left(q\\right)$$&quot;,&quot;font&quot;:{&quot;color&quot;:&quot;#000000&quot;,&quot;family&quot;:&quot;Arial&quot;,&quot;size&quot;:22.5},&quot;backgroundColorModified&quot;:false,&quot;aid&quot;:null,&quot;ts&quot;:1759134534618,&quot;cs&quot;:&quot;hmW6D9fjjrDt7b1k2EMzDw==&quot;,&quot;size&quot;:{&quot;width&quot;:211.33333333333334,&quot;height&quot;:40.666666666666664}}" id="358" name="Google Shape;358;p4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7175" y="2854875"/>
            <a:ext cx="2012950" cy="38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aid&quot;:null,&quot;code&quot;:&quot;$$\\overline{\\Delta}=\\,T_{v}^{T}\\Delta$$&quot;,&quot;font&quot;:{&quot;color&quot;:&quot;#000000&quot;,&quot;size&quot;:22.5,&quot;family&quot;:&quot;Arial&quot;},&quot;backgroundColorModified&quot;:false,&quot;backgroundColor&quot;:&quot;#FFFFFF&quot;,&quot;id&quot;:&quot;64&quot;,&quot;ts&quot;:1759134616864,&quot;cs&quot;:&quot;qQKo0CF3VqTBE5BS83LfrQ==&quot;,&quot;size&quot;:{&quot;width&quot;:157,&quot;height&quot;:41.833333333333336}}" id="359" name="Google Shape;359;p4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7175" y="3696400"/>
            <a:ext cx="1495425" cy="398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3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Command velocity V</a:t>
            </a:r>
            <a:r>
              <a:rPr baseline="-25000"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aseline="-25000"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43"/>
          <p:cNvSpPr txBox="1"/>
          <p:nvPr/>
        </p:nvSpPr>
        <p:spPr>
          <a:xfrm>
            <a:off x="407175" y="888725"/>
            <a:ext cx="45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Equation for control input: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id&quot;:&quot;65&quot;,&quot;backgroundColorModified&quot;:false,&quot;code&quot;:&quot;$$V_{c\\,}\\,=\\begin{bmatrix}\n{v_{d}\\,\\cos\\left(e\\theta\\right)\\,+\\,k_{x}e_{x}}\\\\\n{w_{d}\\,+k_{y}v_{d}e_{y}\\,+k_{\\theta\\,}v_{d}\\,\\sin\\left(e_{\\theta}\\right)}\\\\\n\\end{bmatrix}$$&quot;,&quot;aid&quot;:null,&quot;type&quot;:&quot;$$&quot;,&quot;backgroundColor&quot;:&quot;#FFFFFF&quot;,&quot;font&quot;:{&quot;size&quot;:12,&quot;family&quot;:&quot;Arial&quot;,&quot;color&quot;:&quot;#000000&quot;},&quot;ts&quot;:1759135121507,&quot;cs&quot;:&quot;xrj0Kv0T3cK24pF6WwUktQ==&quot;,&quot;size&quot;:{&quot;width&quot;:292,&quot;height&quot;:46}}" id="366" name="Google Shape;36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306" y="1650500"/>
            <a:ext cx="5110718" cy="92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q_{d}.v_{d}\\hookrightarrow$$&quot;,&quot;aid&quot;:null,&quot;backgroundColor&quot;:&quot;#FFFFFF&quot;,&quot;backgroundColorModified&quot;:false,&quot;type&quot;:&quot;$$&quot;,&quot;id&quot;:&quot;66&quot;,&quot;font&quot;:{&quot;color&quot;:&quot;#000000&quot;,&quot;family&quot;:&quot;Arial&quot;,&quot;size&quot;:12},&quot;ts&quot;:1759135178724,&quot;cs&quot;:&quot;tllfY1hnEZMguSKXgbzajA==&quot;,&quot;size&quot;:{&quot;width&quot;:67.5,&quot;height&quot;:13.333333333333334}}" id="367" name="Google Shape;36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24225" y="2985312"/>
            <a:ext cx="1250875" cy="24707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43"/>
          <p:cNvSpPr txBox="1"/>
          <p:nvPr/>
        </p:nvSpPr>
        <p:spPr>
          <a:xfrm>
            <a:off x="2375100" y="2870100"/>
            <a:ext cx="243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Doesn’t follow set point</a:t>
            </a:r>
            <a:b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Works for trajectory following</a:t>
            </a:r>
            <a:endParaRPr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43"/>
          <p:cNvSpPr txBox="1"/>
          <p:nvPr/>
        </p:nvSpPr>
        <p:spPr>
          <a:xfrm>
            <a:off x="934600" y="3525825"/>
            <a:ext cx="133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Desired position + Velocity</a:t>
            </a:r>
            <a:endParaRPr sz="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4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Control Structure</a:t>
            </a:r>
            <a:endParaRPr baseline="-25000"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5" name="Google Shape;37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150" y="1076200"/>
            <a:ext cx="7276742" cy="100507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44"/>
          <p:cNvSpPr txBox="1"/>
          <p:nvPr/>
        </p:nvSpPr>
        <p:spPr>
          <a:xfrm>
            <a:off x="529150" y="2335800"/>
            <a:ext cx="6692700" cy="18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Input: desired trajectory (q</a:t>
            </a:r>
            <a:r>
              <a:rPr baseline="-25000" lang="en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,v</a:t>
            </a:r>
            <a:r>
              <a:rPr baseline="-25000" lang="en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Kinematic Controller → computes command velocity v</a:t>
            </a:r>
            <a:r>
              <a:rPr baseline="-25000" lang="en" sz="120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​ based on tracking errors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Dynamic/Independent Wheel Controller → converts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aseline="-25000" lang="en" sz="1200"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into wheel torques τ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Robot + EOM → updates motion states q,q˙​)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Feedback transform → converts robot states back into error signals for correction</a:t>
            </a:r>
            <a:endParaRPr sz="19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5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Feedback</a:t>
            </a: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Linearization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p45"/>
          <p:cNvSpPr txBox="1"/>
          <p:nvPr/>
        </p:nvSpPr>
        <p:spPr>
          <a:xfrm>
            <a:off x="306300" y="928000"/>
            <a:ext cx="265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 velocity dynamics:</a:t>
            </a:r>
            <a:endParaRPr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type&quot;:&quot;$$&quot;,&quot;code&quot;:&quot;$$\\overline{M}\\left(q\\right)\\dot{v}\\,+\\,\\overline{C}\\,\\left(q,\\dot{q}\\right)v\\,+\\,\\overline{\\Delta}=\\,\\overline{B}\\tau$$&quot;,&quot;id&quot;:&quot;67&quot;,&quot;aid&quot;:null,&quot;font&quot;:{&quot;family&quot;:&quot;Arial&quot;,&quot;color&quot;:&quot;#000000&quot;,&quot;size&quot;:25.5},&quot;backgroundColorModified&quot;:false,&quot;backgroundColor&quot;:&quot;#FFFFFF&quot;,&quot;ts&quot;:1759153161162,&quot;cs&quot;:&quot;AYqjXjOgSkzdRZoUFVxm5A==&quot;,&quot;size&quot;:{&quot;width&quot;:534,&quot;height&quot;:47.5}}" id="383" name="Google Shape;383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20887" y="1607199"/>
            <a:ext cx="5086350" cy="452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tau$$&quot;,&quot;backgroundColorModified&quot;:false,&quot;font&quot;:{&quot;family&quot;:&quot;Arial&quot;,&quot;color&quot;:&quot;#000000&quot;,&quot;size&quot;:19},&quot;id&quot;:&quot;68&quot;,&quot;aid&quot;:null,&quot;type&quot;:&quot;$$&quot;,&quot;backgroundColor&quot;:&quot;#FFFFFF&quot;,&quot;ts&quot;:1759151818329,&quot;cs&quot;:&quot;Z6J1Hfy0XuRLFL3oc22p3w==&quot;,&quot;size&quot;:{&quot;width&quot;:15,&quot;height&quot;:13.333333333333334}}" id="384" name="Google Shape;384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2875" y="2550413"/>
            <a:ext cx="319697" cy="284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font&quot;:{&quot;size&quot;:19,&quot;color&quot;:&quot;#000000&quot;,&quot;family&quot;:&quot;Arial&quot;},&quot;type&quot;:&quot;$$&quot;,&quot;backgroundColorModified&quot;:false,&quot;id&quot;:&quot;69&quot;,&quot;code&quot;:&quot;$$v_{c}\\left(t\\right)\\,$$&quot;,&quot;ts&quot;:1759151850504,&quot;cs&quot;:&quot;PUk8Ppwd7XbnBNdCQiA84g==&quot;,&quot;size&quot;:{&quot;width&quot;:61.5,&quot;height&quot;:29.833333333333332}}" id="385" name="Google Shape;38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03200" y="2923350"/>
            <a:ext cx="585788" cy="284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dot{x}\\,=\\,f\\,\\left(x,u\\right)$$&quot;,&quot;font&quot;:{&quot;color&quot;:&quot;#000000&quot;,&quot;size&quot;:19,&quot;family&quot;:&quot;Arial&quot;},&quot;backgroundColorModified&quot;:false,&quot;type&quot;:&quot;$$&quot;,&quot;id&quot;:&quot;70&quot;,&quot;backgroundColor&quot;:&quot;#FFFFFF&quot;,&quot;aid&quot;:null,&quot;ts&quot;:1759151877511,&quot;cs&quot;:&quot;mjnMykzZcrDna05Xg985pg==&quot;,&quot;size&quot;:{&quot;width&quot;:159.5,&quot;height&quot;:29.833333333333332}}" id="386" name="Google Shape;386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37850" y="3453200"/>
            <a:ext cx="1519238" cy="284163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5"/>
          <p:cNvSpPr txBox="1"/>
          <p:nvPr/>
        </p:nvSpPr>
        <p:spPr>
          <a:xfrm>
            <a:off x="407175" y="2461638"/>
            <a:ext cx="18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 Torque: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8" name="Google Shape;388;p45"/>
          <p:cNvSpPr txBox="1"/>
          <p:nvPr/>
        </p:nvSpPr>
        <p:spPr>
          <a:xfrm>
            <a:off x="407175" y="2880150"/>
            <a:ext cx="250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Desired: robot velocity :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9" name="Google Shape;389;p45"/>
          <p:cNvSpPr txBox="1"/>
          <p:nvPr/>
        </p:nvSpPr>
        <p:spPr>
          <a:xfrm>
            <a:off x="407175" y="3318675"/>
            <a:ext cx="18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Model:</a:t>
            </a:r>
            <a:endParaRPr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6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Linearization Idea (general system)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5" name="Google Shape;395;p46"/>
          <p:cNvSpPr txBox="1"/>
          <p:nvPr/>
        </p:nvSpPr>
        <p:spPr>
          <a:xfrm>
            <a:off x="306300" y="928000"/>
            <a:ext cx="2650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Nonlinear system:</a:t>
            </a:r>
            <a:endParaRPr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\\dot{x}\\,=\\,f\\,\\left(x,u\\right)$$&quot;,&quot;font&quot;:{&quot;color&quot;:&quot;#000000&quot;,&quot;size&quot;:19,&quot;family&quot;:&quot;Arial&quot;},&quot;backgroundColorModified&quot;:false,&quot;type&quot;:&quot;$$&quot;,&quot;id&quot;:&quot;70&quot;,&quot;backgroundColor&quot;:&quot;#FFFFFF&quot;,&quot;aid&quot;:null,&quot;ts&quot;:1759151877511,&quot;cs&quot;:&quot;mjnMykzZcrDna05Xg985pg==&quot;,&quot;size&quot;:{&quot;width&quot;:159.5,&quot;height&quot;:29.833333333333332}}" id="396" name="Google Shape;39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6050" y="1076200"/>
            <a:ext cx="2221336" cy="415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6"/>
          <p:cNvSpPr txBox="1"/>
          <p:nvPr/>
        </p:nvSpPr>
        <p:spPr>
          <a:xfrm>
            <a:off x="306300" y="1816725"/>
            <a:ext cx="226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Choosing Control law: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font&quot;:{&quot;color&quot;:&quot;#000000&quot;,&quot;size&quot;:19,&quot;family&quot;:&quot;Arial&quot;},&quot;backgroundColor&quot;:&quot;#FFFFFF&quot;,&quot;code&quot;:&quot;$$u\\,=\\,b^{-1}\\,\\left[-f\\left(x\\right)+\\,\\dot{x}_{d}\\,+\\,k\\left(x_{d}\\,-\\,x\\right)\\right]$$&quot;,&quot;backgroundColorModified&quot;:false,&quot;id&quot;:&quot;71&quot;,&quot;aid&quot;:null,&quot;type&quot;:&quot;$$&quot;,&quot;ts&quot;:1759152304721,&quot;cs&quot;:&quot;oFyCwwtkbrTpnOwmg1MFdA==&quot;,&quot;size&quot;:{&quot;width&quot;:471,&quot;height&quot;:33.666666666666664}}" id="398" name="Google Shape;39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300" y="1871938"/>
            <a:ext cx="4486275" cy="320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72&quot;,&quot;backgroundColorModified&quot;:false,&quot;type&quot;:&quot;$$&quot;,&quot;aid&quot;:null,&quot;code&quot;:&quot;$$\\dot{x}\\,=\\,\\dot{x_{d}}\\,+\\,k\\left(x_{d}\\,-\\,x\\right)$$&quot;,&quot;font&quot;:{&quot;size&quot;:19,&quot;family&quot;:&quot;Arial&quot;,&quot;color&quot;:&quot;#000000&quot;},&quot;ts&quot;:1759152358153,&quot;cs&quot;:&quot;d5Dx18SbwlHwjBDPOlWOHg==&quot;,&quot;size&quot;:{&quot;width&quot;:276.75,&quot;height&quot;:29.75}}" id="399" name="Google Shape;399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71300" y="2794913"/>
            <a:ext cx="2636044" cy="2833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73&quot;,&quot;aid&quot;:null,&quot;code&quot;:&quot;$$\\dot{e}\\,+\\,ke\\,=\\,0$$&quot;,&quot;backgroundColorModified&quot;:false,&quot;font&quot;:{&quot;family&quot;:&quot;Arial&quot;,&quot;color&quot;:&quot;#000000&quot;,&quot;size&quot;:19},&quot;type&quot;:&quot;$$&quot;,&quot;backgroundColor&quot;:&quot;#FFFFFF&quot;,&quot;ts&quot;:1759152379791,&quot;cs&quot;:&quot;AmHtJBooLwyrCRJpQXVKrA==&quot;,&quot;size&quot;:{&quot;width&quot;:151.66666666666666,&quot;height&quot;:23.166666666666668}}" id="400" name="Google Shape;400;p4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55275" y="3680575"/>
            <a:ext cx="1444625" cy="220663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46"/>
          <p:cNvSpPr txBox="1"/>
          <p:nvPr/>
        </p:nvSpPr>
        <p:spPr>
          <a:xfrm>
            <a:off x="407175" y="2721050"/>
            <a:ext cx="226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substituting: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46"/>
          <p:cNvSpPr txBox="1"/>
          <p:nvPr/>
        </p:nvSpPr>
        <p:spPr>
          <a:xfrm>
            <a:off x="445950" y="3625375"/>
            <a:ext cx="226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 Dynamics: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7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Law for the Robot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47"/>
          <p:cNvSpPr txBox="1"/>
          <p:nvPr/>
        </p:nvSpPr>
        <p:spPr>
          <a:xfrm>
            <a:off x="306300" y="928000"/>
            <a:ext cx="4389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Feedback Linearisation to velocity-space EOM</a:t>
            </a:r>
            <a:endParaRPr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Chosen input torque:</a:t>
            </a:r>
            <a:endParaRPr sz="15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code&quot;:&quot;$$\\tau\\,=\\,\\overline{B}^{-1}\\left(\\overline{M}\\left(q\\right)\\dot{v}_{}\\,+\\,\\overline{C}\\left(q,\\dot{q}\\right)v\\,+\\,\\tilde{\\Delta}+\\,K\\left(v_{c}\\,-v\\right)\\right)$$&quot;,&quot;id&quot;:&quot;74&quot;,&quot;backgroundColorModified&quot;:false,&quot;type&quot;:&quot;$$&quot;,&quot;font&quot;:{&quot;color&quot;:&quot;#000000&quot;,&quot;family&quot;:&quot;Arial&quot;,&quot;size&quot;:19},&quot;backgroundColor&quot;:&quot;#FFFFFF&quot;,&quot;aid&quot;:null,&quot;ts&quot;:1759153106878,&quot;cs&quot;:&quot;ZmhVahkr8pxnM4/qnDV56A==&quot;,&quot;size&quot;:{&quot;width&quot;:642,&quot;height&quot;:55}}" id="409" name="Google Shape;40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488" y="1683050"/>
            <a:ext cx="61150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\\overline{M}\\left(q\\right)\\dot{v}\\,+\\,\\overline{C}\\,\\left(q,\\dot{q}\\right)v\\,+\\,\\overline{\\Delta}=\\,\\overline{B}\\tau$$&quot;,&quot;id&quot;:&quot;67&quot;,&quot;aid&quot;:null,&quot;font&quot;:{&quot;family&quot;:&quot;Arial&quot;,&quot;color&quot;:&quot;#000000&quot;,&quot;size&quot;:25.5},&quot;backgroundColorModified&quot;:false,&quot;backgroundColor&quot;:&quot;#FFFFFF&quot;,&quot;ts&quot;:1759153161162,&quot;cs&quot;:&quot;AYqjXjOgSkzdRZoUFVxm5A==&quot;,&quot;size&quot;:{&quot;width&quot;:534,&quot;height&quot;:47.5}}" id="410" name="Google Shape;41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78287" y="2661049"/>
            <a:ext cx="5086350" cy="452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color&quot;:&quot;#000000&quot;,&quot;family&quot;:&quot;Arial&quot;,&quot;size&quot;:25.5},&quot;code&quot;:&quot;$$\\hookrightarrow\\left(2\\right)$$&quot;,&quot;id&quot;:&quot;75&quot;,&quot;type&quot;:&quot;$$&quot;,&quot;backgroundColorModified&quot;:false,&quot;backgroundColor&quot;:&quot;#FFFFFF&quot;,&quot;ts&quot;:1759153286187,&quot;cs&quot;:&quot;ePLTwRAsyBKnH+zvSSHPzA==&quot;,&quot;size&quot;:{&quot;width&quot;:101,&quot;height&quot;:40}}" id="411" name="Google Shape;411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0575" y="1868285"/>
            <a:ext cx="9620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hookrightarrow\\left(1\\right)$$&quot;,&quot;type&quot;:&quot;$$&quot;,&quot;id&quot;:&quot;75&quot;,&quot;aid&quot;:null,&quot;font&quot;:{&quot;family&quot;:&quot;Arial&quot;,&quot;size&quot;:25.5,&quot;color&quot;:&quot;#000000&quot;},&quot;backgroundColor&quot;:&quot;#FFFFFF&quot;,&quot;backgroundColorModified&quot;:false,&quot;ts&quot;:1759153269875,&quot;cs&quot;:&quot;/VEZZwt3yXg7sgHqNEBdww==&quot;,&quot;size&quot;:{&quot;width&quot;:101,&quot;height&quot;:40}}" id="412" name="Google Shape;412;p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3225" y="2810560"/>
            <a:ext cx="9620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47"/>
          <p:cNvSpPr txBox="1"/>
          <p:nvPr/>
        </p:nvSpPr>
        <p:spPr>
          <a:xfrm>
            <a:off x="2739413" y="3191550"/>
            <a:ext cx="45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Substituting 2 in 1</a:t>
            </a:r>
            <a:endParaRPr sz="16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Modified&quot;:false,&quot;backgroundColor&quot;:&quot;#FFFFFF&quot;,&quot;code&quot;:&quot;$$\\overline{M}\\left(q\\right)\\left(\\dot{v}_{c}\\,-\\,\\dot{v}\\right)\\,+\\,K\\left(v_{c}\\,-\\,v\\right)\\,=\\,\\tilde{\\Delta}\\,-\\,\\overline{\\Delta}$$&quot;,&quot;aid&quot;:null,&quot;id&quot;:&quot;76&quot;,&quot;font&quot;:{&quot;family&quot;:&quot;Arial&quot;,&quot;color&quot;:&quot;#000000&quot;,&quot;size&quot;:25.5},&quot;type&quot;:&quot;$$&quot;,&quot;ts&quot;:1759153533435,&quot;cs&quot;:&quot;sH5in/EJVvwC7VEvdFAopg==&quot;,&quot;size&quot;:{&quot;width&quot;:698.5,&quot;height&quot;:47.5}}" id="414" name="Google Shape;414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09976" y="3772175"/>
            <a:ext cx="4999601" cy="34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8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Closed-Loop Error Dynamics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0" name="Google Shape;420;p48"/>
          <p:cNvSpPr txBox="1"/>
          <p:nvPr/>
        </p:nvSpPr>
        <p:spPr>
          <a:xfrm>
            <a:off x="306300" y="1879650"/>
            <a:ext cx="453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Define: </a:t>
            </a:r>
            <a:endParaRPr baseline="-25000"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backgroundColorModified&quot;:false,&quot;backgroundColor&quot;:&quot;#FFFFFF&quot;,&quot;code&quot;:&quot;$$\\overline{M}\\left(q\\right)\\left(\\dot{v}_{c}\\,-\\,\\dot{v}\\right)\\,+\\,K\\left(v_{c}\\,-\\,v\\right)\\,=\\,\\tilde{\\Delta}\\,-\\,\\overline{\\Delta}$$&quot;,&quot;aid&quot;:null,&quot;id&quot;:&quot;76&quot;,&quot;font&quot;:{&quot;family&quot;:&quot;Arial&quot;,&quot;color&quot;:&quot;#000000&quot;,&quot;size&quot;:25.5},&quot;type&quot;:&quot;$$&quot;,&quot;ts&quot;:1759153533435,&quot;cs&quot;:&quot;sH5in/EJVvwC7VEvdFAopg==&quot;,&quot;size&quot;:{&quot;width&quot;:698.5,&quot;height&quot;:47.5}}" id="421" name="Google Shape;42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5388" y="1289800"/>
            <a:ext cx="6653213" cy="452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code&quot;:&quot;$$\\dot{e}_{v}\\,+\\,k^{\\prime}\\,e_{v}\\,=\\,\\delta\\left(t\\right)$$&quot;,&quot;id&quot;:&quot;77&quot;,&quot;aid&quot;:null,&quot;backgroundColor&quot;:&quot;#FFFFFF&quot;,&quot;font&quot;:{&quot;color&quot;:&quot;#000000&quot;,&quot;family&quot;:&quot;Arial&quot;,&quot;size&quot;:25.5},&quot;type&quot;:&quot;$$&quot;,&quot;backgroundColorModified&quot;:false,&quot;ts&quot;:1759153650863,&quot;cs&quot;:&quot;o1t91IhFz8kq5SCieOgl4A==&quot;,&quot;size&quot;:{&quot;width&quot;:302.75,&quot;height&quot;:42.25}}" id="422" name="Google Shape;42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8075" y="2571750"/>
            <a:ext cx="2883694" cy="402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code&quot;:&quot;$$\\delta\\left(t\\right)\\,=\\,\\overline{M}\\left(q\\right)^{-1}\\left[\\tilde{\\Delta}\\,-\\,\\overline{\\Delta}\\right]$$&quot;,&quot;backgroundColorModified&quot;:false,&quot;backgroundColor&quot;:&quot;#FFFFFF&quot;,&quot;font&quot;:{&quot;color&quot;:&quot;#000000&quot;,&quot;family&quot;:&quot;Arial&quot;,&quot;size&quot;:25.5},&quot;aid&quot;:null,&quot;id&quot;:&quot;78&quot;,&quot;ts&quot;:1759153724905,&quot;cs&quot;:&quot;kO0+F7klloDVBfbqt+Fw/Q==&quot;,&quot;size&quot;:{&quot;width&quot;:429.6666666666667,&quot;height&quot;:72}}" id="423" name="Google Shape;42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4438" y="3320325"/>
            <a:ext cx="4092575" cy="685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{&quot;id&quot;:&quot;79&quot;,&quot;type&quot;:&quot;$$&quot;,&quot;font&quot;:{&quot;size&quot;:25.5,&quot;color&quot;:&quot;#000000&quot;,&quot;family&quot;:&quot;Arial&quot;},&quot;code&quot;:&quot;$$K^{\\prime}\\,=\\,\\overline{M}\\left(q\\right)^{-1}\\,k$$&quot;,&quot;aid&quot;:null,&quot;backgroundColor&quot;:&quot;#FFFFFF&quot;,&quot;backgroundColorModified&quot;:false,&quot;ts&quot;:1759153950995,&quot;cs&quot;:&quot;ik00eKC+yJgmOqowi5DATQ==&quot;,&quot;size&quot;:{&quot;width&quot;:271.5,&quot;height&quot;:48}}" id="424" name="Google Shape;424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12550" y="3441075"/>
            <a:ext cx="2586038" cy="457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{&quot;font&quot;:{&quot;size&quot;:25.5,&quot;family&quot;:&quot;Arial&quot;,&quot;color&quot;:&quot;#000000&quot;},&quot;type&quot;:&quot;$$&quot;,&quot;code&quot;:&quot;$$e_{v}\\,=\\,v_{c\\,}-\\,v$$&quot;,&quot;backgroundColor&quot;:&quot;#FFFFFF&quot;,&quot;backgroundColorModified&quot;:false,&quot;aid&quot;:null,&quot;id&quot;:&quot;80&quot;,&quot;ts&quot;:1759153995364,&quot;cs&quot;:&quot;adY6uPJuFGB2ASWcuyC/9Q==&quot;,&quot;size&quot;:{&quot;width&quot;:216.16666666666666,&quot;height&quot;:24.166666666666668}}" id="425" name="Google Shape;425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27275" y="1995400"/>
            <a:ext cx="2058988" cy="230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9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Second-Order Error Dynamics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49"/>
          <p:cNvSpPr txBox="1"/>
          <p:nvPr/>
        </p:nvSpPr>
        <p:spPr>
          <a:xfrm>
            <a:off x="306300" y="904450"/>
            <a:ext cx="22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position error:</a:t>
            </a:r>
            <a:endParaRPr baseline="-25000"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{&quot;font&quot;:{&quot;size&quot;:25.5,&quot;family&quot;:&quot;Arial&quot;,&quot;color&quot;:&quot;#000000&quot;},&quot;aid&quot;:null,&quot;code&quot;:&quot;$$\\ddot{e}\\,+\\,k_{d}\\dot{e}\\,+k_{p}e\\,=\\,0$$&quot;,&quot;backgroundColorModified&quot;:false,&quot;type&quot;:&quot;$$&quot;,&quot;id&quot;:&quot;77&quot;,&quot;backgroundColor&quot;:&quot;#FFFFFF&quot;,&quot;ts&quot;:1759154229217,&quot;cs&quot;:&quot;8YJbo/3BgvD0SDl4pZF5ew==&quot;,&quot;size&quot;:{&quot;width&quot;:333.5,&quot;height&quot;:39.25}}" id="432" name="Google Shape;43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4175" y="1366148"/>
            <a:ext cx="3176588" cy="3738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backgroundColor&quot;:&quot;#FFFFFF&quot;,&quot;id&quot;:&quot;81&quot;,&quot;code&quot;:&quot;$$s^{2}\\,+\\,2\\varepsilon w_{n}s+w_{n}^{2}\\,=\\,0$$&quot;,&quot;font&quot;:{&quot;color&quot;:&quot;#000000&quot;,&quot;size&quot;:25.5,&quot;family&quot;:&quot;Arial&quot;},&quot;type&quot;:&quot;$$&quot;,&quot;backgroundColorModified&quot;:false,&quot;ts&quot;:1759154334497,&quot;cs&quot;:&quot;pLB3tUIJx1RRU5KgO33veg==&quot;,&quot;size&quot;:{&quot;width&quot;:384.6666666666667,&quot;height&quot;:45.666666666666664}}" id="433" name="Google Shape;43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4175" y="2611050"/>
            <a:ext cx="3663950" cy="434975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9"/>
          <p:cNvSpPr txBox="1"/>
          <p:nvPr/>
        </p:nvSpPr>
        <p:spPr>
          <a:xfrm>
            <a:off x="458700" y="2029950"/>
            <a:ext cx="262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Characteristic equation:</a:t>
            </a:r>
            <a:endParaRPr baseline="-25000"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0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Set-Point Control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50"/>
          <p:cNvSpPr txBox="1"/>
          <p:nvPr/>
        </p:nvSpPr>
        <p:spPr>
          <a:xfrm>
            <a:off x="364325" y="1076200"/>
            <a:ext cx="483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Goal: stabilize robot at a desired position (x</a:t>
            </a:r>
            <a:r>
              <a:rPr baseline="-25000" lang="en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,y</a:t>
            </a:r>
            <a:r>
              <a:rPr baseline="-25000" lang="en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Instead of directly controlling (x,y,θ) define a virtual output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1" name="Google Shape;44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500" y="1252200"/>
            <a:ext cx="2821075" cy="2094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id&quot;:&quot;82&quot;,&quot;font&quot;:{&quot;family&quot;:&quot;Arial&quot;,&quot;color&quot;:&quot;#000000&quot;,&quot;size&quot;:25.5},&quot;code&quot;:&quot;$$Y\\,=\\,\\begin{bmatrix}\n{x\\,+\\,\\alpha\\cos\\theta}\\\\\n{y\\,+\\,\\alpha\\sin\\theta}\\\\\n\\end{bmatrix}$$&quot;,&quot;backgroundColorModified&quot;:false,&quot;aid&quot;:null,&quot;type&quot;:&quot;$$&quot;,&quot;ts&quot;:1759157881334,&quot;cs&quot;:&quot;DMrR8C11mzNHfqW4TZQDfw==&quot;,&quot;size&quot;:{&quot;width&quot;:324,&quot;height&quot;:95.75}}" id="442" name="Google Shape;442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300" y="1958438"/>
            <a:ext cx="3086100" cy="9120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backgroundColor&quot;:&quot;#FFFFFF&quot;,&quot;aid&quot;:null,&quot;code&quot;:&quot;$$M\\ddot{q}\\,+\\,C\\dot{q}\\,+\\,\\Delta\\,=\\,B\\tau$$&quot;,&quot;type&quot;:&quot;$$&quot;,&quot;font&quot;:{&quot;size&quot;:25.5,&quot;family&quot;:&quot;Arial&quot;,&quot;color&quot;:&quot;#000000&quot;},&quot;id&quot;:&quot;85&quot;,&quot;ts&quot;:1759159547182,&quot;cs&quot;:&quot;3HrKwHgRpZ+F8Be6N8vfQQ==&quot;,&quot;size&quot;:{&quot;width&quot;:382.6666666666667,&quot;height&quot;:36.333333333333336}}" id="443" name="Google Shape;443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225" y="3173300"/>
            <a:ext cx="3644900" cy="346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font&quot;:{&quot;size&quot;:25.5,&quot;family&quot;:&quot;Arial&quot;,&quot;color&quot;:&quot;#000000&quot;},&quot;code&quot;:&quot;$$\\overline{M}\\dot{v}\\,+\\,\\overline{C}v\\,+\\overline{\\Delta}=\\,B\\tau$$&quot;,&quot;id&quot;:&quot;86&quot;,&quot;backgroundColor&quot;:&quot;#FFFFFF&quot;,&quot;type&quot;:&quot;$$&quot;,&quot;aid&quot;:null,&quot;backgroundColorModified&quot;:false,&quot;ts&quot;:1759159607040,&quot;cs&quot;:&quot;gtieN3zMcMFnsFuJA8mzBA==&quot;,&quot;size&quot;:{&quot;width&quot;:372.6666666666667,&quot;height&quot;:40.666666666666664}}" id="444" name="Google Shape;444;p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6600" y="3822225"/>
            <a:ext cx="3549650" cy="38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51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Set-Point Control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0" name="Google Shape;450;p51"/>
          <p:cNvSpPr txBox="1"/>
          <p:nvPr/>
        </p:nvSpPr>
        <p:spPr>
          <a:xfrm>
            <a:off x="364325" y="1076200"/>
            <a:ext cx="483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Goal: stabilize robot at a desired position (x</a:t>
            </a:r>
            <a:r>
              <a:rPr baseline="-25000" lang="en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,y</a:t>
            </a:r>
            <a:r>
              <a:rPr baseline="-25000" lang="en" sz="12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b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Instead of directly controlling (x,y,θ) define a virtual output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1" name="Google Shape;45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500" y="1252200"/>
            <a:ext cx="2821075" cy="2094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type&quot;:&quot;$$&quot;,&quot;backgroundColor&quot;:&quot;#FFFFFF&quot;,&quot;aid&quot;:null,&quot;font&quot;:{&quot;family&quot;:&quot;Arial&quot;,&quot;color&quot;:&quot;#000000&quot;,&quot;size&quot;:25.5},&quot;id&quot;:&quot;83&quot;,&quot;code&quot;:&quot;$$\\ddot{Y}\\,=\\dot{\\Lambda}v\\,+\\,\\Lambda\\dot{v}$$&quot;,&quot;ts&quot;:1759159321642,&quot;cs&quot;:&quot;1W7AGZg2stI9aeDJ52xOlQ==&quot;,&quot;size&quot;:{&quot;width&quot;:244.59999999999994,&quot;height&quot;:40.800000000000004}}" id="452" name="Google Shape;45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3013" y="2421088"/>
            <a:ext cx="2329815" cy="388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type&quot;:&quot;$$&quot;,&quot;font&quot;:{&quot;color&quot;:&quot;#000000&quot;,&quot;family&quot;:&quot;Arial&quot;,&quot;size&quot;:25.5},&quot;id&quot;:&quot;83&quot;,&quot;backgroundColor&quot;:&quot;#FFFFFF&quot;,&quot;code&quot;:&quot;$$\\dot{Y\\,}\\,=\\Lambda v$$&quot;,&quot;aid&quot;:null,&quot;backgroundColorModified&quot;:false,&quot;ts&quot;:1759159186932,&quot;cs&quot;:&quot;cm5N07bpkgP19j88DP294g==&quot;,&quot;size&quot;:{&quot;width&quot;:142.16666666666666,&quot;height&quot;:36.666666666666664}}" id="453" name="Google Shape;45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67625" y="1916750"/>
            <a:ext cx="1354138" cy="34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aid&quot;:null,&quot;font&quot;:{&quot;family&quot;:&quot;Arial&quot;,&quot;color&quot;:&quot;#000000&quot;,&quot;size&quot;:25.5},&quot;backgroundColor&quot;:&quot;#FFFFFF&quot;,&quot;code&quot;:&quot;$$\\Lambda\\,=\\,\\begin{bmatrix}\n{\\cos\\theta}&amp;{-\\alpha\\sin\\theta}\\\\\n{\\sin\\theta}&amp;{\\alpha\\cos\\theta}\\\\\n\\end{bmatrix}$$&quot;,&quot;backgroundColorModified&quot;:false,&quot;type&quot;:&quot;$$&quot;,&quot;id&quot;:&quot;84&quot;,&quot;ts&quot;:1759159255581,&quot;cs&quot;:&quot;sk89v+HWcg7k8qpnPV8ytw==&quot;,&quot;size&quot;:{&quot;width&quot;:381.3333333333333,&quot;height&quot;:95.66666666666663}}" id="454" name="Google Shape;454;p5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17175" y="3106555"/>
            <a:ext cx="3632200" cy="91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52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 Law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0" name="Google Shape;460;p52"/>
          <p:cNvSpPr txBox="1"/>
          <p:nvPr/>
        </p:nvSpPr>
        <p:spPr>
          <a:xfrm>
            <a:off x="364325" y="1076200"/>
            <a:ext cx="483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Substitute into velocity-space dynamics</a:t>
            </a:r>
            <a:endParaRPr sz="12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1" name="Google Shape;46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500" y="1252200"/>
            <a:ext cx="2821075" cy="2094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Modified&quot;:false,&quot;id&quot;:&quot;87&quot;,&quot;backgroundColor&quot;:&quot;#FFFFFF&quot;,&quot;aid&quot;:null,&quot;font&quot;:{&quot;family&quot;:&quot;Arial&quot;,&quot;color&quot;:&quot;#000000&quot;,&quot;size&quot;:12},&quot;type&quot;:&quot;$$&quot;,&quot;code&quot;:&quot;$$\\tilde{M}\\ddot{Y}\\,+\\,\\tilde{C}\\dot{Y}\\,+\\,\\tilde{\\Delta}\\,=\\,\\tilde{B\\tau}$$&quot;,&quot;ts&quot;:1759159764708,&quot;cs&quot;:&quot;Kd6ZrYuwmBda8pc0BfAKDQ==&quot;,&quot;size&quot;:{&quot;width&quot;:191.33333333333334,&quot;height&quot;:19}}" id="462" name="Google Shape;462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6025" y="1816750"/>
            <a:ext cx="3326175" cy="330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id&quot;:&quot;88&quot;,&quot;backgroundColorModified&quot;:false,&quot;code&quot;:&quot;$$\\tilde{M},\\,\\tilde{C},\\,\\tilde{\\Delta},\\,\\tilde{B\\,}=\\,transformed\\,\\,dynamics\\,u\\sin g\\,\\Lambda$$&quot;,&quot;backgroundColor&quot;:&quot;#FFFFFF&quot;,&quot;type&quot;:&quot;$$&quot;,&quot;aid&quot;:null,&quot;font&quot;:{&quot;size&quot;:12,&quot;family&quot;:&quot;Arial&quot;,&quot;color&quot;:&quot;#000000&quot;},&quot;ts&quot;:1759159829216,&quot;cs&quot;:&quot;E9rjQZ1EBftM8Kgw/GBGhw==&quot;,&quot;size&quot;:{&quot;width&quot;:391.3333333333333,&quot;height&quot;:21.666666666666668}}" id="463" name="Google Shape;463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350" y="2571750"/>
            <a:ext cx="37274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&quot;backgroundColor&quot;:&quot;#FFFFFF&quot;,&quot;backgroundColorModified&quot;:false,&quot;type&quot;:&quot;$$&quot;,&quot;code&quot;:&quot;$$\\tau\\,=\\,\\,\\tilde{B^{-1}}\\left[\\tilde{M}\\,\\ddot{y_{d}}\\,+\\,\\tilde{C}\\dot{y}+\\,\\tilde{\\Delta}\\,+k_{d}\\left(\\dot{Y}_{d}\\,-\\,\\dot{Y}\\right)\\,+\\,k_{p}\\left[Y_{d}\\,-\\,Y\\right]\\right]$$&quot;,&quot;aid&quot;:null,&quot;id&quot;:&quot;89&quot;,&quot;font&quot;:{&quot;color&quot;:&quot;#000000&quot;,&quot;size&quot;:12,&quot;family&quot;:&quot;Arial&quot;},&quot;ts&quot;:1759160112364,&quot;cs&quot;:&quot;iQHZpe522xbXCy36V6mweQ==&quot;,&quot;size&quot;:{&quot;width&quot;:484.6666666666667,&quot;height&quot;:34}}" id="464" name="Google Shape;464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2225" y="3522775"/>
            <a:ext cx="5264334" cy="36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3"/>
          <p:cNvSpPr txBox="1"/>
          <p:nvPr>
            <p:ph type="title"/>
          </p:nvPr>
        </p:nvSpPr>
        <p:spPr>
          <a:xfrm>
            <a:off x="306300" y="359800"/>
            <a:ext cx="8430300" cy="7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22033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Second-Order Error Dynamics</a:t>
            </a:r>
            <a:endParaRPr sz="2400">
              <a:solidFill>
                <a:srgbClr val="22033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0" name="Google Shape;470;p53"/>
          <p:cNvSpPr txBox="1"/>
          <p:nvPr/>
        </p:nvSpPr>
        <p:spPr>
          <a:xfrm>
            <a:off x="306300" y="904450"/>
            <a:ext cx="22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position error:</a:t>
            </a:r>
            <a:endParaRPr baseline="-25000" sz="1800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1" name="Google Shape;47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850" y="1624976"/>
            <a:ext cx="7448274" cy="126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330662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