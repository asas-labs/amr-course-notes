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Montserrat SemiBold"/>
      <p:regular r:id="rId41"/>
      <p:bold r:id="rId42"/>
      <p:italic r:id="rId43"/>
      <p:boldItalic r:id="rId44"/>
    </p:embeddedFont>
    <p:embeddedFont>
      <p:font typeface="Roboto"/>
      <p:regular r:id="rId45"/>
      <p:bold r:id="rId46"/>
      <p:italic r:id="rId47"/>
      <p:boldItalic r:id="rId48"/>
    </p:embeddedFont>
    <p:embeddedFont>
      <p:font typeface="Montserrat"/>
      <p:regular r:id="rId49"/>
      <p:bold r:id="rId50"/>
      <p:italic r:id="rId51"/>
      <p:boldItalic r:id="rId52"/>
    </p:embeddedFont>
    <p:embeddedFont>
      <p:font typeface="Frank Ruhl Libre"/>
      <p:regular r:id="rId53"/>
      <p:bold r:id="rId54"/>
    </p:embeddedFont>
    <p:embeddedFont>
      <p:font typeface="Montserrat ExtraBold"/>
      <p:bold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MontserratSemiBold-bold.fntdata"/><Relationship Id="rId41" Type="http://schemas.openxmlformats.org/officeDocument/2006/relationships/font" Target="fonts/MontserratSemiBold-regular.fntdata"/><Relationship Id="rId44" Type="http://schemas.openxmlformats.org/officeDocument/2006/relationships/font" Target="fonts/MontserratSemiBold-boldItalic.fntdata"/><Relationship Id="rId43" Type="http://schemas.openxmlformats.org/officeDocument/2006/relationships/font" Target="fonts/MontserratSemiBold-italic.fntdata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3" Type="http://schemas.openxmlformats.org/officeDocument/2006/relationships/font" Target="fonts/FrankRuhlLibre-regular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55" Type="http://schemas.openxmlformats.org/officeDocument/2006/relationships/font" Target="fonts/MontserratExtraBold-bold.fntdata"/><Relationship Id="rId10" Type="http://schemas.openxmlformats.org/officeDocument/2006/relationships/slide" Target="slides/slide5.xml"/><Relationship Id="rId54" Type="http://schemas.openxmlformats.org/officeDocument/2006/relationships/font" Target="fonts/FrankRuhlLibr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MontserratExtra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06743487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06743487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8d21c9d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8d21c9d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06743487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06743487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8d21c9d8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8d21c9d8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eacdd2cd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eacdd2cd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eacdd2cd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eacdd2cd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eacdd2cd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eacdd2cd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eacdd2cd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eacdd2cd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acdd2cd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eacdd2cd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eacdd2cd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eacdd2cd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f035bf742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f035bf742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eacdd2cd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eacdd2cd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eacdd2cd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eacdd2cd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eacdd2cd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eacdd2cd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f035bf742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7f035bf742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f035bf74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f035bf74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f035bf7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f035bf7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f035bf74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f035bf74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f035bf74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f035bf74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f035bf74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7f035bf74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f035bf74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7f035bf74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f035bf74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7f035bf74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f035bf74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f035bf74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f035bf74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7f035bf74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f035bf74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f035bf74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f035bf74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f035bf74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f035bf742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7f035bf74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f035bf742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7f035bf742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f035bf742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7f035bf74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7f035bf74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7f035bf74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f4247ed32_6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7f4247ed32_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f4247ed32_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f4247ed32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f4247ed32_6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f4247ed32_6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f4247ed32_6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f4247ed32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rgbClr val="220337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_1_1_1">
    <p:bg>
      <p:bgPr>
        <a:solidFill>
          <a:srgbClr val="220337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367" l="308" r="327" t="357"/>
          <a:stretch/>
        </p:blipFill>
        <p:spPr>
          <a:xfrm>
            <a:off x="0" y="25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York University logo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2462575" y="2959018"/>
            <a:ext cx="4218600" cy="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/>
        </p:nvSpPr>
        <p:spPr>
          <a:xfrm>
            <a:off x="4583948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 txBox="1"/>
          <p:nvPr>
            <p:ph idx="3" type="subTitle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4" type="subTitle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 " id="41" name="Google Shape;4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708000"/>
            <a:ext cx="3132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2400"/>
              <a:buNone/>
              <a:defRPr sz="24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542000"/>
            <a:ext cx="3054600" cy="28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47" name="Google Shape;4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1772975" y="528144"/>
            <a:ext cx="5597700" cy="24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5600"/>
              <a:buNone/>
              <a:defRPr sz="5600">
                <a:solidFill>
                  <a:srgbClr val="57068C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descr=" " id="52" name="Google Shape;5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2120250" y="2660325"/>
            <a:ext cx="49035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56" name="Google Shape;5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0" name="Google Shape;6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311700" y="3619355"/>
            <a:ext cx="45117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  <a:defRPr b="0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6" name="Google Shape;66;p11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hasCustomPrompt="1" type="title"/>
          </p:nvPr>
        </p:nvSpPr>
        <p:spPr>
          <a:xfrm>
            <a:off x="311700" y="606575"/>
            <a:ext cx="8520600" cy="16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3000"/>
              <a:buNone/>
              <a:defRPr sz="13000">
                <a:solidFill>
                  <a:srgbClr val="57068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007950" y="3094875"/>
            <a:ext cx="3128100" cy="11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pic>
        <p:nvPicPr>
          <p:cNvPr descr=" "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2"/>
          <p:cNvSpPr txBox="1"/>
          <p:nvPr>
            <p:ph idx="2" type="subTitle"/>
          </p:nvPr>
        </p:nvSpPr>
        <p:spPr>
          <a:xfrm>
            <a:off x="1429500" y="2353776"/>
            <a:ext cx="62850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accent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3"/>
          <p:cNvSpPr txBox="1"/>
          <p:nvPr>
            <p:ph type="title"/>
          </p:nvPr>
        </p:nvSpPr>
        <p:spPr>
          <a:xfrm>
            <a:off x="4969800" y="1412750"/>
            <a:ext cx="3766800" cy="137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4969675" y="2901150"/>
            <a:ext cx="3766800" cy="1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587975"/>
            <a:ext cx="3610800" cy="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000"/>
              <a:buNone/>
              <a:defRPr sz="40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311700" y="1836175"/>
            <a:ext cx="36108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4"/>
          <p:cNvSpPr txBox="1"/>
          <p:nvPr/>
        </p:nvSpPr>
        <p:spPr>
          <a:xfrm>
            <a:off x="5958050" y="683000"/>
            <a:ext cx="2778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>
            <p:ph idx="2" type="body"/>
          </p:nvPr>
        </p:nvSpPr>
        <p:spPr>
          <a:xfrm>
            <a:off x="5824575" y="68305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" name="Google Shape;87;p14"/>
          <p:cNvSpPr txBox="1"/>
          <p:nvPr>
            <p:ph idx="3" type="body"/>
          </p:nvPr>
        </p:nvSpPr>
        <p:spPr>
          <a:xfrm>
            <a:off x="5824575" y="1931875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" name="Google Shape;88;p14"/>
          <p:cNvSpPr txBox="1"/>
          <p:nvPr>
            <p:ph idx="4" type="body"/>
          </p:nvPr>
        </p:nvSpPr>
        <p:spPr>
          <a:xfrm>
            <a:off x="5824575" y="318070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  <p15:guide id="2" orient="horz" pos="4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">
    <p:bg>
      <p:bgPr>
        <a:solidFill>
          <a:srgbClr val="22033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04850" y="1264532"/>
            <a:ext cx="67107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974919" y="3029082"/>
            <a:ext cx="37152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descr=" "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3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802" y="-34225"/>
            <a:ext cx="9269596" cy="51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592275" y="522825"/>
            <a:ext cx="8144400" cy="3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" name="Google Shape;10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b="1" sz="3600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jp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Relationship Id="rId4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jpg"/><Relationship Id="rId4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Mobile Robots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Aliasghar Moj Arab</a:t>
            </a:r>
            <a:endParaRPr/>
          </a:p>
        </p:txBody>
      </p:sp>
      <p:sp>
        <p:nvSpPr>
          <p:cNvPr id="112" name="Google Shape;112;p19"/>
          <p:cNvSpPr txBox="1"/>
          <p:nvPr>
            <p:ph idx="2" type="subTitle"/>
          </p:nvPr>
        </p:nvSpPr>
        <p:spPr>
          <a:xfrm>
            <a:off x="2496200" y="2840512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Control and Planning: Autonomous Mobile Robots and Autonomous Vehicles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Lecture 2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298100" y="2951550"/>
            <a:ext cx="4677000" cy="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2"/>
                </a:solidFill>
              </a:rPr>
              <a:t>Vehicle Kinematics &amp; Equations of Motion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793600" y="817178"/>
            <a:ext cx="15567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 A R T   0 1</a:t>
            </a:r>
            <a:endParaRPr sz="90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20" name="Google Shape;120;p20"/>
          <p:cNvCxnSpPr/>
          <p:nvPr/>
        </p:nvCxnSpPr>
        <p:spPr>
          <a:xfrm>
            <a:off x="4231926" y="1084298"/>
            <a:ext cx="692400" cy="0"/>
          </a:xfrm>
          <a:prstGeom prst="straightConnector1">
            <a:avLst/>
          </a:prstGeom>
          <a:noFill/>
          <a:ln cap="flat" cmpd="sng" w="9525">
            <a:solidFill>
              <a:srgbClr val="5706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637500" y="314450"/>
            <a:ext cx="7869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38975" y="844850"/>
            <a:ext cx="82125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Physical Constraints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Kinematics &amp; Equations of Motion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&amp; Perception Fundamentals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Control Methods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Model Predictive Control (NMPC) + Constraints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Motion Planning Algorithms (RRT*, RRT, DWA, path generation)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Learning-Based Planning &amp; Control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Standards, Architectures, &amp; Safety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38975" y="50135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do we need reference frames in mobile robots?</a:t>
            </a: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6296800" y="420275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Introduction to Autonomous Mobile Robots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second edition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Roland Siegwart, Illah R. Nourbakhsh, and Davide Scaramuzza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338975" y="1217750"/>
            <a:ext cx="5350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Each wheel generates forces and imposes motion constraints (e.g., no sideways slip).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Because wheels are fixedly fixed to the chassis, their limitations must be integrated into the overall model of robot motion.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It is necessary to express all forces and constraints in a common reference in order to properly combine wheel effects.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22" title="Screenshot 2025-09-12 2256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513" y="1325300"/>
            <a:ext cx="2752579" cy="268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38975" y="501350"/>
            <a:ext cx="78690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and Robot Frames</a:t>
            </a:r>
            <a:endParaRPr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500875" y="3524550"/>
            <a:ext cx="5072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x, y: position of point P in the global frame.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θ: orientation of the robot’s forward axis Xᴿ w.r.t. Xᴵ.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463500" y="1944450"/>
            <a:ext cx="507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Robot (body) frame (Xᴿ, Yᴿ): attached to the robot at a reference point P (often the center of the axle).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407175" y="1114750"/>
            <a:ext cx="507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Global (inertial) frame (Xᴵ, Yᴵ): fixed to the world, used to describe goals, maps, and trajectories.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23" title="Screenshot 2025-09-12 2256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775" y="1370150"/>
            <a:ext cx="2852875" cy="255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6023850" y="3794275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Introduction to Autonomous Mobile Robots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second edition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Roland Siegwart, Illah R. Nourbakhsh, and Davide Scaramuzza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463500" y="2652450"/>
            <a:ext cx="50727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pose of the robot is defined by: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(x, y, θ)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38975" y="501350"/>
            <a:ext cx="78690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and Robot Frames</a:t>
            </a:r>
            <a:endParaRPr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407175" y="1032450"/>
            <a:ext cx="5072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Robot pose in global frame: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ξᴵ =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338975" y="2571750"/>
            <a:ext cx="50727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relation between global and robot frames is captured by the rotation matrix: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R(θ) =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/>
          </a:blip>
          <a:srcRect b="9926" l="10831" r="5724" t="0"/>
          <a:stretch/>
        </p:blipFill>
        <p:spPr>
          <a:xfrm>
            <a:off x="5614500" y="1294575"/>
            <a:ext cx="2788550" cy="2813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12,&quot;color&quot;:&quot;#000000&quot;},&quot;backgroundColor&quot;:&quot;#FFFFFF&quot;,&quot;backgroundColorModified&quot;:false,&quot;code&quot;:&quot;$$\\begin{bmatrix}\n{X}\\\\\n{Y}\\\\\n{θ}\\\\\n\\end{bmatrix}$$&quot;,&quot;id&quot;:&quot;2&quot;,&quot;aid&quot;:null,&quot;type&quot;:&quot;$$&quot;,&quot;ts&quot;:1757949899691,&quot;cs&quot;:&quot;UFsrbI448iNz5g7aHNB7RA==&quot;,&quot;size&quot;:{&quot;width&quot;:29.333333333333332,&quot;height&quot;:71.33333333333333}}" id="154" name="Google Shape;1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7125" y="1462375"/>
            <a:ext cx="401925" cy="97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8.5,&quot;family&quot;:&quot;Arial&quot;},&quot;type&quot;:&quot;$$&quot;,&quot;backgroundColorModified&quot;:false,&quot;backgroundColor&quot;:&quot;#FFFFFF&quot;,&quot;aid&quot;:null,&quot;code&quot;:&quot;$$\\begin{bmatrix}\n{\\cos\\theta}&amp;{\\sin\\theta}&amp;{0}\\\\\n{-\\sin\\theta}&amp;{\\cos\\theta}&amp;{0}\\\\\n{0}&amp;{0}&amp;{1}\\\\\n\\end{bmatrix}$$&quot;,&quot;id&quot;:&quot;3&quot;,&quot;ts&quot;:1757950417780,&quot;cs&quot;:&quot;M1BEg7nTYenCfsIzOXhqJg==&quot;,&quot;size&quot;:{&quot;width&quot;:233.93713700787404,&quot;height&quot;:111.46197217847772}}" id="155" name="Google Shape;15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6525" y="3311800"/>
            <a:ext cx="2228251" cy="106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46450" y="478925"/>
            <a:ext cx="78690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Motion Between Global and Robot Frames</a:t>
            </a:r>
            <a:endParaRPr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407175" y="1271738"/>
            <a:ext cx="5072700" cy="1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Robot velocities can be expressed in: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Global frame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→ ξ̇ᴵ = (ẋ, ẏ, θ̇)ᵀ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Robot (local) frame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→ ξ̇ᴿ = (vₓ, vᵧ, ω)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07175" y="2915650"/>
            <a:ext cx="52074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he two are related by the rotation matrix R(θ):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ξ̇ᴿ = R(θ) ξ̇ᴵ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This mapping is pose-dependent (depends on θ).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b="9926" l="10831" r="5724" t="0"/>
          <a:stretch/>
        </p:blipFill>
        <p:spPr>
          <a:xfrm>
            <a:off x="6092950" y="1331950"/>
            <a:ext cx="2362426" cy="238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/>
        </p:nvSpPr>
        <p:spPr>
          <a:xfrm>
            <a:off x="366325" y="882175"/>
            <a:ext cx="61452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moves in the direction of its heading (θ).</a:t>
            </a:r>
            <a:br>
              <a:rPr lang="en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Heading change comes from angular velocity (ω).</a:t>
            </a:r>
            <a:br>
              <a:rPr lang="en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instantaneous sideways motion is possible.</a:t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46450" y="478925"/>
            <a:ext cx="78690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Robot Aligned with Global Axis (θ = π/2)</a:t>
            </a: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0" y="1039100"/>
            <a:ext cx="4968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Equation (rotation matrix):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6023850" y="3794275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Introduction to Autonomous Mobile Robots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second edition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Roland Siegwart, Illah R. Nourbakhsh, and Davide Scaramuzza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526825" y="2713100"/>
            <a:ext cx="50727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Velocity mapping: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ξ̇ᴿ = R(π/2) ξ̇ᴵ =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525" y="1116725"/>
            <a:ext cx="3095076" cy="252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begin{bmatrix}\n{ẏ}\\\\\n{−ẋ}\\\\\n{θ̇}\\\\\n\\end{bmatrix}$$&quot;,&quot;id&quot;:&quot;4&quot;,&quot;backgroundColor&quot;:&quot;#FFFFFF&quot;,&quot;aid&quot;:null,&quot;font&quot;:{&quot;family&quot;:&quot;Arial&quot;,&quot;size&quot;:18.5,&quot;color&quot;:&quot;#000000&quot;},&quot;backgroundColorModified&quot;:false,&quot;ts&quot;:1757950590123,&quot;cs&quot;:&quot;3zQ8Eez0k3UN38/c5iwuEg==&quot;,&quot;size&quot;:{&quot;width&quot;:59.333333333333336,&quot;height&quot;:110}}"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0600" y="3131425"/>
            <a:ext cx="5651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5150" y="1427250"/>
            <a:ext cx="3254800" cy="13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46450" y="478925"/>
            <a:ext cx="78690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Nonholonomic Constraint (No Side-Slip)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0" y="1039100"/>
            <a:ext cx="60240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Wheeled robots cannot move sideways (no lateral slip).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In the robot frame: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2619150" y="2671900"/>
            <a:ext cx="13506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ẋ = vₓ cosθ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ẏ = vₓ sinθ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θ̇ = ω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2527800" y="1786400"/>
            <a:ext cx="96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 sz="2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sz="2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346450" y="2210200"/>
            <a:ext cx="52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Substituting into velocity mapping gives: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269150" y="3917775"/>
            <a:ext cx="575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This is the unicycle model (planar rigid body with no lateral motion).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3">
            <a:alphaModFix/>
          </a:blip>
          <a:srcRect b="9926" l="10831" r="5724" t="0"/>
          <a:stretch/>
        </p:blipFill>
        <p:spPr>
          <a:xfrm>
            <a:off x="6092950" y="1331950"/>
            <a:ext cx="2362426" cy="238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407175" y="1310900"/>
            <a:ext cx="3738000" cy="264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 = wheel radiu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s.</a:t>
            </a:r>
            <a:b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 = axle length (distance between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wheel contact lines).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φ̇₁ , φ̇₂ = right/left wheel angular speeds (rad/s).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403700" y="291575"/>
            <a:ext cx="71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Differential-Drive Geometry &amp; Symbols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4388425" y="1405175"/>
            <a:ext cx="4104300" cy="2302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Sign conventions:</a:t>
            </a:r>
            <a:b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Forward robot motion (+) ⇒ vₓ &gt; 0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Counter-clockwise yaw (+) ⇒ ω &gt; 0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Right wheel at +b, left wheel at −b (about point P)</a:t>
            </a:r>
            <a:endParaRPr sz="2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346450" y="478925"/>
            <a:ext cx="78690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Robot Velocities to Wheel Velocities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346450" y="964325"/>
            <a:ext cx="54399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vᵣ = [ vₓ , 0 , ω ]</a:t>
            </a:r>
            <a:endParaRPr sz="17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Relate robot motion to wheel angular speeds (ϕ̇L , ϕ̇R)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Differential-drive geometry: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Left wheel at –b, Right wheel at +b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Each wheel’s tangential velocity = r·ϕ̇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Wheel velocities: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Right wheel: vₓ + b·ω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Left wheel: v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ₓ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– b·ω</a:t>
            </a:r>
            <a:endParaRPr sz="17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9926" l="10831" r="5724" t="0"/>
          <a:stretch/>
        </p:blipFill>
        <p:spPr>
          <a:xfrm>
            <a:off x="6092950" y="1331950"/>
            <a:ext cx="2362426" cy="238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6023850" y="3794275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Introduction to Autonomous Mobile Robots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second edition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Roland Siegwart, Illah R. Nourbakhsh, and Davide Scaramuzza</a:t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366325" y="882175"/>
            <a:ext cx="5285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wheel’s forward velocity is proportional to its angular speed:</a:t>
            </a:r>
            <a:b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r>
              <a:rPr b="1" lang="en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r φ̇</a:t>
            </a:r>
            <a:endParaRPr b="1"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407175" y="1994300"/>
            <a:ext cx="5285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differential drive robot, the forward motion and rotation combine at each wheel.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1"/>
          <p:cNvSpPr txBox="1"/>
          <p:nvPr/>
        </p:nvSpPr>
        <p:spPr>
          <a:xfrm>
            <a:off x="792475" y="3077950"/>
            <a:ext cx="1591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Left wheel: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vₓ −</a:t>
            </a: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bω = r </a:t>
            </a: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φ̇₂</a:t>
            </a:r>
            <a:endParaRPr b="1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493425" y="231750"/>
            <a:ext cx="430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Wheel Velocities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3476325" y="3085750"/>
            <a:ext cx="1685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Right wheel: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vₓ + bω = r φ̇₁</a:t>
            </a:r>
            <a:endParaRPr b="1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525" y="1116725"/>
            <a:ext cx="3095076" cy="25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/>
        </p:nvSpPr>
        <p:spPr>
          <a:xfrm>
            <a:off x="501523" y="231750"/>
            <a:ext cx="68859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0" lIns="100000" spcFirstLastPara="1" rIns="100000" wrap="square" tIns="10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31"/>
              </a:spcBef>
              <a:spcAft>
                <a:spcPts val="438"/>
              </a:spcAft>
              <a:buNone/>
            </a:pPr>
            <a:r>
              <a:rPr b="1" lang="en" sz="2625">
                <a:latin typeface="Times New Roman"/>
                <a:ea typeface="Times New Roman"/>
                <a:cs typeface="Times New Roman"/>
                <a:sym typeface="Times New Roman"/>
              </a:rPr>
              <a:t>Jacobian Mapping (Robot Frame)</a:t>
            </a:r>
            <a:endParaRPr sz="2625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407175" y="918715"/>
            <a:ext cx="4019700" cy="3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0" lIns="100000" spcFirstLastPara="1" rIns="100000" wrap="square" tIns="100000">
            <a:spAutoFit/>
          </a:bodyPr>
          <a:lstStyle/>
          <a:p>
            <a:pPr indent="-382042" lvl="0" marL="500128" rtl="0" algn="l">
              <a:lnSpc>
                <a:spcPct val="115000"/>
              </a:lnSpc>
              <a:spcBef>
                <a:spcPts val="1313"/>
              </a:spcBef>
              <a:spcAft>
                <a:spcPts val="0"/>
              </a:spcAft>
              <a:buSzPts val="2078"/>
              <a:buChar char="●"/>
            </a:pP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Body velocities (robot frame):</a:t>
            </a:r>
            <a:endParaRPr sz="20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0128" rtl="0" algn="l">
              <a:lnSpc>
                <a:spcPct val="115000"/>
              </a:lnSpc>
              <a:spcBef>
                <a:spcPts val="1313"/>
              </a:spcBef>
              <a:spcAft>
                <a:spcPts val="0"/>
              </a:spcAft>
              <a:buNone/>
            </a:pPr>
            <a:b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 [v</a:t>
            </a:r>
            <a:r>
              <a:rPr lang="en" sz="875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" sz="875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, ω]ᵀ (with v</a:t>
            </a:r>
            <a:r>
              <a:rPr lang="en" sz="875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 = 0)</a:t>
            </a:r>
            <a:b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2042" lvl="0" marL="500128" rtl="0" algn="l">
              <a:lnSpc>
                <a:spcPct val="115000"/>
              </a:lnSpc>
              <a:spcBef>
                <a:spcPts val="1313"/>
              </a:spcBef>
              <a:spcAft>
                <a:spcPts val="0"/>
              </a:spcAft>
              <a:buSzPts val="2078"/>
              <a:buChar char="●"/>
            </a:pP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Wheel angular velocities:</a:t>
            </a:r>
            <a:endParaRPr sz="20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0128" rtl="0" algn="l">
              <a:lnSpc>
                <a:spcPct val="115000"/>
              </a:lnSpc>
              <a:spcBef>
                <a:spcPts val="1313"/>
              </a:spcBef>
              <a:spcAft>
                <a:spcPts val="1313"/>
              </a:spcAft>
              <a:buNone/>
            </a:pPr>
            <a:b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 Φ</a:t>
            </a: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̇ = </a:t>
            </a:r>
            <a:r>
              <a:rPr lang="en" sz="2078">
                <a:latin typeface="Times New Roman"/>
                <a:ea typeface="Times New Roman"/>
                <a:cs typeface="Times New Roman"/>
                <a:sym typeface="Times New Roman"/>
              </a:rPr>
              <a:t>[φ̇₁, φ̇₂]ᵀ</a:t>
            </a:r>
            <a:endParaRPr sz="2078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4794973" y="1644349"/>
            <a:ext cx="3941700" cy="2118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00" lIns="100000" spcFirstLastPara="1" rIns="100000" wrap="square" tIns="10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13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These equations link wheel angular velocities to robot forward speed and rotation rate.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313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Foundation for the Jacobian form.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31"/>
              </a:spcBef>
              <a:spcAft>
                <a:spcPts val="438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Jacobian Form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  </a:t>
            </a: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q̇ = J φ̇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/>
        </p:nvSpPr>
        <p:spPr>
          <a:xfrm>
            <a:off x="493425" y="1354675"/>
            <a:ext cx="36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/ subtract the two equations:</a:t>
            </a:r>
            <a:endParaRPr b="1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4859425" y="882175"/>
            <a:ext cx="22503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vₓ = (r/2)(φ̇₁ + φ̇₂)  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ω  = (r/2b)(φ̇₁ − φ̇₂)  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456050" y="2876125"/>
            <a:ext cx="3812700" cy="44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Matrix (Jacobian) in the robot frame:</a:t>
            </a:r>
            <a:endParaRPr b="1" sz="17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493425" y="231750"/>
            <a:ext cx="430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Body Velocities (Robot Frame)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627975" y="3999675"/>
            <a:ext cx="313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Jᴿ maps wheel speeds → robot-frame velocities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\\begin{bmatrix}\n{vₓ}\\\\\n{vᵧ}\\\\\n{ω}\\\\\n\\end{bmatrix}$$&quot;,&quot;backgroundColorModified&quot;:false,&quot;type&quot;:&quot;$$&quot;,&quot;aid&quot;:null,&quot;font&quot;:{&quot;family&quot;:&quot;Arial&quot;,&quot;size&quot;:18,&quot;color&quot;:&quot;#000000&quot;},&quot;backgroundColor&quot;:&quot;#FFFFFF&quot;,&quot;id&quot;:&quot;5&quot;,&quot;ts&quot;:1757953495020,&quot;cs&quot;:&quot;nzyOhYy8ZVwzmj93qgmAeg==&quot;,&quot;size&quot;:{&quot;width&quot;:50,&quot;height&quot;:107}}" id="232" name="Google Shape;2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9625" y="2876125"/>
            <a:ext cx="4762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type&quot;:&quot;$$&quot;,&quot;font&quot;:{&quot;color&quot;:&quot;#000000&quot;,&quot;family&quot;:&quot;Arial&quot;,&quot;size&quot;:17.5},&quot;aid&quot;:null,&quot;id&quot;:&quot;6&quot;,&quot;code&quot;:&quot;$$=\\begin{bmatrix}\n{r/2}&amp;{r/2}&amp;{}\\\\\n{0}&amp;{0}&amp;{}\\\\\n{r/2b}&amp;{-r/2b}&amp;{}\\\\\n\\end{bmatrix}$$&quot;,&quot;ts&quot;:1757953668898,&quot;cs&quot;:&quot;Q8c4l/PtvzKVzSUbyIMMBQ==&quot;,&quot;size&quot;:{&quot;width&quot;:234.39999999999998,&quot;height&quot;:104}}" id="233" name="Google Shape;23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5508" y="2876127"/>
            <a:ext cx="223266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/>
        </p:nvSpPr>
        <p:spPr>
          <a:xfrm>
            <a:off x="680350" y="1003300"/>
            <a:ext cx="80562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control navigation, we need motion in world (global) coordinates.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matrix (robot → global):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493425" y="231750"/>
            <a:ext cx="702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Forward Kinematics in Global Frame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4"/>
          <p:cNvSpPr txBox="1"/>
          <p:nvPr/>
        </p:nvSpPr>
        <p:spPr>
          <a:xfrm>
            <a:off x="456075" y="3376450"/>
            <a:ext cx="5666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Global motion:</a:t>
            </a:r>
            <a:b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ẋ  = R(</a:t>
            </a: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)V</a:t>
            </a:r>
            <a:r>
              <a:rPr b="1" baseline="-25000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 V</a:t>
            </a:r>
            <a:r>
              <a:rPr b="1" baseline="-25000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xcosθ, V</a:t>
            </a:r>
            <a:r>
              <a:rPr b="1" baseline="-25000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​sinθ,</a:t>
            </a:r>
            <a:r>
              <a:rPr b="1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ω ]</a:t>
            </a:r>
            <a:r>
              <a:rPr b="1" baseline="30000"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R\\left(θ\\right)=\\begin{bmatrix}\n{cosθ}&amp;{-sinθ}&amp;{0}\\\\\n{sinθ}&amp;{cosθ}&amp;{0}\\\\\n{0}&amp;{0}&amp;{1}\\\\\n\\end{bmatrix}$$&quot;,&quot;backgroundColorModified&quot;:false,&quot;font&quot;:{&quot;family&quot;:&quot;Arial&quot;,&quot;size&quot;:17.5,&quot;color&quot;:&quot;#000000&quot;},&quot;type&quot;:&quot;$$&quot;,&quot;backgroundColor&quot;:&quot;#FFFFFF&quot;,&quot;aid&quot;:null,&quot;id&quot;:&quot;7&quot;,&quot;ts&quot;:1757953848910,&quot;cs&quot;:&quot;uEvQc6JCN6hq0jP0y5f8Cw==&quot;,&quot;size&quot;:{&quot;width&quot;:313.25,&quot;height&quot;:104}}" id="241" name="Google Shape;2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525" y="2058713"/>
            <a:ext cx="3585901" cy="11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/>
        </p:nvSpPr>
        <p:spPr>
          <a:xfrm>
            <a:off x="493425" y="844550"/>
            <a:ext cx="55623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Kinematics (diff-drive, holonomic) only explains how velocity inputs → motion.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For car-like robots (Ackermann steering), forces and inertia matter.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To model turning, drifting, braking → we need Newton’s Laws:</a:t>
            </a:r>
            <a:endParaRPr sz="17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1962425" y="3648325"/>
            <a:ext cx="300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∑ F = ma,  ∑ M = I ω˙</a:t>
            </a:r>
            <a:endParaRPr b="1" sz="2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5"/>
          <p:cNvSpPr txBox="1"/>
          <p:nvPr/>
        </p:nvSpPr>
        <p:spPr>
          <a:xfrm>
            <a:off x="493425" y="231750"/>
            <a:ext cx="843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Dynamics of the Bicycle Model (Ackermann Approximation)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" name="Google Shape;24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2825" y="1134825"/>
            <a:ext cx="2723775" cy="2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5"/>
          <p:cNvSpPr txBox="1"/>
          <p:nvPr/>
        </p:nvSpPr>
        <p:spPr>
          <a:xfrm>
            <a:off x="6055575" y="3603450"/>
            <a:ext cx="31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https://www.researchgate.net/profile/Qingyang-Chen/publication/261345739/figure/fig2/AS:862698266968067@1582694703864/Equivalent-bicycle-model-of-Ackerman-steered-vehicle.png</a:t>
            </a:r>
            <a:endParaRPr sz="5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/>
        </p:nvSpPr>
        <p:spPr>
          <a:xfrm>
            <a:off x="493425" y="844550"/>
            <a:ext cx="80805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Kinematics ignores forces; dynamics includes inertia &amp; tire forces.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Reference point: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Center of Mass (C)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Parameters: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𝑙</a:t>
            </a:r>
            <a:r>
              <a:rPr baseline="-25000" i="1" lang="en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distance COM → front axle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𝑙</a:t>
            </a:r>
            <a:r>
              <a:rPr baseline="-25000" i="1" lang="en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: distance COM → rear axle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δ : steering angle of front wheel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Generalized velocities: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𝑉</a:t>
            </a:r>
            <a:r>
              <a:rPr baseline="-25000"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, 𝑉</a:t>
            </a:r>
            <a:r>
              <a:rPr baseline="-25000" i="1" lang="en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: longitudinal &amp; lateral velocities at COM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ω : yaw rate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493425" y="231750"/>
            <a:ext cx="811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Dynamics of the Bicycle Model (Ackermann Approximation)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36"/>
          <p:cNvPicPr preferRelativeResize="0"/>
          <p:nvPr/>
        </p:nvPicPr>
        <p:blipFill rotWithShape="1">
          <a:blip r:embed="rId3">
            <a:alphaModFix/>
          </a:blip>
          <a:srcRect b="8340" l="10015" r="0" t="0"/>
          <a:stretch/>
        </p:blipFill>
        <p:spPr>
          <a:xfrm>
            <a:off x="5928500" y="1239300"/>
            <a:ext cx="2600825" cy="26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/>
        </p:nvSpPr>
        <p:spPr>
          <a:xfrm>
            <a:off x="493425" y="844550"/>
            <a:ext cx="4537800" cy="15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Forces: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𝐹</a:t>
            </a:r>
            <a:r>
              <a:rPr baseline="-25000" i="1" lang="en" sz="1700">
                <a:latin typeface="Times New Roman"/>
                <a:ea typeface="Times New Roman"/>
                <a:cs typeface="Times New Roman"/>
                <a:sym typeface="Times New Roman"/>
              </a:rPr>
              <a:t>xf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, 𝐹</a:t>
            </a:r>
            <a:r>
              <a:rPr baseline="-25000" i="1" lang="en" sz="1700">
                <a:latin typeface="Times New Roman"/>
                <a:ea typeface="Times New Roman"/>
                <a:cs typeface="Times New Roman"/>
                <a:sym typeface="Times New Roman"/>
              </a:rPr>
              <a:t>yf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: longitudinal &amp; lateral forces at front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𝐹</a:t>
            </a:r>
            <a:r>
              <a:rPr baseline="-25000" i="1" lang="en" sz="1700">
                <a:latin typeface="Times New Roman"/>
                <a:ea typeface="Times New Roman"/>
                <a:cs typeface="Times New Roman"/>
                <a:sym typeface="Times New Roman"/>
              </a:rPr>
              <a:t>yr,, 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𝐹</a:t>
            </a:r>
            <a:r>
              <a:rPr baseline="-25000" i="1" lang="en" sz="1700">
                <a:latin typeface="Times New Roman"/>
                <a:ea typeface="Times New Roman"/>
                <a:cs typeface="Times New Roman"/>
                <a:sym typeface="Times New Roman"/>
              </a:rPr>
              <a:t>xr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:  longitudinal &amp; lateral force at rear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493425" y="231750"/>
            <a:ext cx="747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Forces on the Vehicle</a:t>
            </a:r>
            <a:endParaRPr sz="2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37"/>
          <p:cNvSpPr txBox="1"/>
          <p:nvPr/>
        </p:nvSpPr>
        <p:spPr>
          <a:xfrm>
            <a:off x="530825" y="2571750"/>
            <a:ext cx="42015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Governing principle: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∑F = m a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∑M = I ω̇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" name="Google Shape;265;p37"/>
          <p:cNvPicPr preferRelativeResize="0"/>
          <p:nvPr/>
        </p:nvPicPr>
        <p:blipFill rotWithShape="1">
          <a:blip r:embed="rId3">
            <a:alphaModFix/>
          </a:blip>
          <a:srcRect b="8340" l="10015" r="0" t="0"/>
          <a:stretch/>
        </p:blipFill>
        <p:spPr>
          <a:xfrm>
            <a:off x="5816350" y="931075"/>
            <a:ext cx="2600825" cy="26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/>
        </p:nvSpPr>
        <p:spPr>
          <a:xfrm>
            <a:off x="493425" y="844550"/>
            <a:ext cx="42015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Longitudinal (x-axis):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m V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ω + 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xf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cosδ − 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yf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sinδ + 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xr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= m ẍ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493425" y="231750"/>
            <a:ext cx="7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Equations of Motion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493425" y="3142550"/>
            <a:ext cx="45156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Yaw (rotation):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yf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cosδ · l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+ 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xf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sinδ · l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− 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yr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= I ω̇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493425" y="1993550"/>
            <a:ext cx="43584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Lateral (y-axis):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−m Vₓ ω + 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yr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+ 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yf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cosδ + F</a:t>
            </a:r>
            <a:r>
              <a:rPr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xf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sinδ = m ÿ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38"/>
          <p:cNvPicPr preferRelativeResize="0"/>
          <p:nvPr/>
        </p:nvPicPr>
        <p:blipFill rotWithShape="1">
          <a:blip r:embed="rId3">
            <a:alphaModFix/>
          </a:blip>
          <a:srcRect b="8340" l="10015" r="0" t="0"/>
          <a:stretch/>
        </p:blipFill>
        <p:spPr>
          <a:xfrm>
            <a:off x="5838775" y="1111700"/>
            <a:ext cx="2600825" cy="26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/>
        </p:nvSpPr>
        <p:spPr>
          <a:xfrm>
            <a:off x="441100" y="844550"/>
            <a:ext cx="3057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M(q) =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39"/>
          <p:cNvSpPr txBox="1"/>
          <p:nvPr/>
        </p:nvSpPr>
        <p:spPr>
          <a:xfrm>
            <a:off x="493425" y="231750"/>
            <a:ext cx="7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Matrix Representation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39"/>
          <p:cNvSpPr txBox="1"/>
          <p:nvPr/>
        </p:nvSpPr>
        <p:spPr>
          <a:xfrm>
            <a:off x="822375" y="2673875"/>
            <a:ext cx="2706300" cy="18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C q̇ = 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p39"/>
          <p:cNvPicPr preferRelativeResize="0"/>
          <p:nvPr/>
        </p:nvPicPr>
        <p:blipFill rotWithShape="1">
          <a:blip r:embed="rId3">
            <a:alphaModFix/>
          </a:blip>
          <a:srcRect b="8340" l="10015" r="0" t="0"/>
          <a:stretch/>
        </p:blipFill>
        <p:spPr>
          <a:xfrm>
            <a:off x="5816350" y="931075"/>
            <a:ext cx="2600825" cy="266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code&quot;:&quot;$$\\begin{bmatrix}\n{m V_{Y}ω}\\\\\n{−m Vₓ ω}\\\\\n{G}\\\\\n\\end{bmatrix}\\begin{matrix}\n{}\\\\\n\\end{matrix}$$&quot;,&quot;backgroundColor&quot;:&quot;#FFFFFF&quot;,&quot;font&quot;:{&quot;size&quot;:27.5,&quot;color&quot;:&quot;#000000&quot;,&quot;family&quot;:&quot;Arial&quot;},&quot;aid&quot;:null,&quot;id&quot;:&quot;10&quot;,&quot;ts&quot;:1758633461841,&quot;cs&quot;:&quot;Ia/bN+XhIYRye814cubxAw==&quot;,&quot;size&quot;:{&quot;width&quot;:172.83333333333334,&quot;height&quot;:163.5}}" id="283" name="Google Shape;28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8848" y="2673863"/>
            <a:ext cx="1646238" cy="1557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id&quot;:&quot;14&quot;,&quot;aid&quot;:null,&quot;code&quot;:&quot;$$\\begin{bmatrix}\n{m}&amp;{0}&amp;{0}\\\\\n{0}&amp;{m}&amp;{0}\\\\\n{0}&amp;{0}&amp;{I}\\\\\n\\end{bmatrix}$$&quot;,&quot;backgroundColor&quot;:&quot;#FFFFFF&quot;,&quot;font&quot;:{&quot;size&quot;:25.5,&quot;family&quot;:&quot;Arial&quot;,&quot;color&quot;:&quot;#000000&quot;},&quot;type&quot;:&quot;$$&quot;,&quot;ts&quot;:1758633507749,&quot;cs&quot;:&quot;+WRRxCOPScB95u6eGl6OrQ==&quot;,&quot;size&quot;:{&quot;width&quot;:197.79999999999998,&quot;height&quot;:151.60000000000002}}" id="284" name="Google Shape;28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7303" y="973813"/>
            <a:ext cx="1884045" cy="1443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/>
        </p:nvSpPr>
        <p:spPr>
          <a:xfrm>
            <a:off x="441100" y="844550"/>
            <a:ext cx="42015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M q̈ + C q̇ + G = B</a:t>
            </a:r>
            <a:r>
              <a:rPr b="1" baseline="-25000" lang="en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1" baseline="-25000" lang="en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 + Bₓ Fₓ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M(q): mass/inertia matrix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C(q)˙​: Coriolis &amp; centrifugal matrix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G: gravity/extra forces (often 0 on flat plane)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0"/>
          <p:cNvSpPr txBox="1"/>
          <p:nvPr/>
        </p:nvSpPr>
        <p:spPr>
          <a:xfrm>
            <a:off x="493425" y="231750"/>
            <a:ext cx="7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Matrix Representation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40"/>
          <p:cNvSpPr txBox="1"/>
          <p:nvPr/>
        </p:nvSpPr>
        <p:spPr>
          <a:xfrm>
            <a:off x="493425" y="2980375"/>
            <a:ext cx="28110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1" baseline="-25000" lang="en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1" baseline="-25000" lang="en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: effect of lateral tire forces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Bₓ Fₓ :effect of longitudinal force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p40"/>
          <p:cNvPicPr preferRelativeResize="0"/>
          <p:nvPr/>
        </p:nvPicPr>
        <p:blipFill rotWithShape="1">
          <a:blip r:embed="rId3">
            <a:alphaModFix/>
          </a:blip>
          <a:srcRect b="8340" l="10015" r="0" t="0"/>
          <a:stretch/>
        </p:blipFill>
        <p:spPr>
          <a:xfrm>
            <a:off x="5816350" y="931075"/>
            <a:ext cx="2600825" cy="26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/>
        </p:nvSpPr>
        <p:spPr>
          <a:xfrm>
            <a:off x="441100" y="844550"/>
            <a:ext cx="4052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baseline="-25000" lang="en" sz="1700">
                <a:latin typeface="Times New Roman"/>
                <a:ea typeface="Times New Roman"/>
                <a:cs typeface="Times New Roman"/>
                <a:sym typeface="Times New Roman"/>
              </a:rPr>
              <a:t>y 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= Indirect Input or Disturbances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41"/>
          <p:cNvSpPr txBox="1"/>
          <p:nvPr/>
        </p:nvSpPr>
        <p:spPr>
          <a:xfrm>
            <a:off x="493425" y="231750"/>
            <a:ext cx="7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Matrix Representation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41"/>
          <p:cNvSpPr txBox="1"/>
          <p:nvPr/>
        </p:nvSpPr>
        <p:spPr>
          <a:xfrm>
            <a:off x="493425" y="1552450"/>
            <a:ext cx="27363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1" baseline="-25000" lang="en" sz="21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1" baseline="-25000" lang="en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1"/>
          <p:cNvSpPr txBox="1"/>
          <p:nvPr/>
        </p:nvSpPr>
        <p:spPr>
          <a:xfrm>
            <a:off x="4769525" y="1501500"/>
            <a:ext cx="3902700" cy="1640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model is the foundation for:</a:t>
            </a:r>
            <a:endParaRPr sz="19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stability control (yaw stability, skid avoidance).</a:t>
            </a:r>
            <a:endParaRPr sz="19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tracking and control design.</a:t>
            </a:r>
            <a:endParaRPr sz="19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41"/>
          <p:cNvSpPr txBox="1"/>
          <p:nvPr/>
        </p:nvSpPr>
        <p:spPr>
          <a:xfrm>
            <a:off x="545725" y="3610925"/>
            <a:ext cx="430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M q̈ + C q̇ + G = B</a:t>
            </a:r>
            <a:r>
              <a:rPr b="1" baseline="-25000" lang="en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1" baseline="-25000" lang="en" sz="21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 + Bₓ Fₓ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{&quot;id&quot;:&quot;12&quot;,&quot;font&quot;:{&quot;color&quot;:&quot;#000000&quot;,&quot;size&quot;:17,&quot;family&quot;:&quot;Arial&quot;},&quot;backgroundColorModified&quot;:false,&quot;backgroundColor&quot;:&quot;#FFFFFF&quot;,&quot;code&quot;:&quot;$$\\begin{bmatrix}\n{- sinδ}&amp;{0}\\\\\n{\\cosδ}&amp;{1}\\\\\n{ly\\cosδ}&amp;{-lr}\\\\\n\\end{bmatrix}$$&quot;,&quot;aid&quot;:null,&quot;type&quot;:&quot;$$&quot;,&quot;ts&quot;:1757955184548,&quot;cs&quot;:&quot;H0nq8w/4p5Zvg1WlYPEn9A==&quot;,&quot;size&quot;:{&quot;width&quot;:162.83333333333334,&quot;height&quot;:101.16666666666667}}" id="302" name="Google Shape;30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25" y="1549575"/>
            <a:ext cx="2088609" cy="1297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6300" y="1820325"/>
            <a:ext cx="965700" cy="1051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/>
        </p:nvSpPr>
        <p:spPr>
          <a:xfrm>
            <a:off x="493425" y="231750"/>
            <a:ext cx="7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Omni-Drive Robots: Why?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2"/>
          <p:cNvSpPr txBox="1"/>
          <p:nvPr/>
        </p:nvSpPr>
        <p:spPr>
          <a:xfrm>
            <a:off x="448575" y="1218600"/>
            <a:ext cx="55173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3 omni-wheels placed 120° apart → full 3-DOF control.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Robot can move in any direction + rotate without reorientation.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Holonomic design: 3 actuators ↔ 3 DOF (x, y, θ).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" name="Google Shape;3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125" y="953200"/>
            <a:ext cx="2828475" cy="205754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2"/>
          <p:cNvSpPr txBox="1"/>
          <p:nvPr/>
        </p:nvSpPr>
        <p:spPr>
          <a:xfrm>
            <a:off x="6212213" y="3401600"/>
            <a:ext cx="22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https://html.scirp.org/file/102349x2.png</a:t>
            </a:r>
            <a:endParaRPr sz="7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/>
          <p:nvPr/>
        </p:nvSpPr>
        <p:spPr>
          <a:xfrm>
            <a:off x="493425" y="231750"/>
            <a:ext cx="747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Robot Geometry &amp; Frames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43"/>
          <p:cNvSpPr txBox="1"/>
          <p:nvPr/>
        </p:nvSpPr>
        <p:spPr>
          <a:xfrm>
            <a:off x="456050" y="1066350"/>
            <a:ext cx="49266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Robot frame: (x, y, θ) at center of mass.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Global (inertial) frame: (X, Y).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Wheel positions: equally spaced at angles α₁, α₂, α₃.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Each wheel located radius R from center, radius of wheel = r.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8" name="Google Shape;31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125" y="953200"/>
            <a:ext cx="2828475" cy="205754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3"/>
          <p:cNvSpPr txBox="1"/>
          <p:nvPr/>
        </p:nvSpPr>
        <p:spPr>
          <a:xfrm>
            <a:off x="6212213" y="3401600"/>
            <a:ext cx="22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https://html.scirp.org/file/102349x2.png</a:t>
            </a:r>
            <a:endParaRPr sz="7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/>
          <p:nvPr/>
        </p:nvSpPr>
        <p:spPr>
          <a:xfrm>
            <a:off x="493425" y="231750"/>
            <a:ext cx="747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 Rotation Between Frames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4"/>
          <p:cNvSpPr txBox="1"/>
          <p:nvPr/>
        </p:nvSpPr>
        <p:spPr>
          <a:xfrm>
            <a:off x="456050" y="1066350"/>
            <a:ext cx="52032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Rotation matrix (global → robot):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" name="Google Shape;3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125" y="953200"/>
            <a:ext cx="2828475" cy="205754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4"/>
          <p:cNvSpPr txBox="1"/>
          <p:nvPr/>
        </p:nvSpPr>
        <p:spPr>
          <a:xfrm>
            <a:off x="6212213" y="3401600"/>
            <a:ext cx="22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https://html.scirp.org/file/102349x2.png</a:t>
            </a:r>
            <a:endParaRPr sz="7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{&quot;code&quot;:&quot;$$R\\left(θ\\right)=\\begin{bmatrix}\n{cosθ}&amp;{-sinθ}&amp;{0}\\\\\n{sinθ}&amp;{cosθ}&amp;{0}\\\\\n{0}&amp;{0}&amp;{1}\\\\\n\\end{bmatrix}$$&quot;,&quot;backgroundColorModified&quot;:false,&quot;font&quot;:{&quot;family&quot;:&quot;Arial&quot;,&quot;size&quot;:21,&quot;color&quot;:&quot;#000000&quot;},&quot;type&quot;:&quot;$$&quot;,&quot;backgroundColor&quot;:&quot;#FFFFFF&quot;,&quot;aid&quot;:null,&quot;id&quot;:&quot;7&quot;,&quot;ts&quot;:1757955361313,&quot;cs&quot;:&quot;hZu8Qi8j45bppOi08NLBJA==&quot;,&quot;size&quot;:{&quot;width&quot;:376.4725650918635,&quot;height&quot;:124.98954750656169}}" id="328" name="Google Shape;32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6775" y="1792375"/>
            <a:ext cx="3934599" cy="147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/>
          <p:nvPr/>
        </p:nvSpPr>
        <p:spPr>
          <a:xfrm>
            <a:off x="493425" y="231750"/>
            <a:ext cx="379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Kinematic Mapping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45"/>
          <p:cNvSpPr txBox="1"/>
          <p:nvPr/>
        </p:nvSpPr>
        <p:spPr>
          <a:xfrm>
            <a:off x="493425" y="953200"/>
            <a:ext cx="49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Velocity of each wheel is related to robot motion: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5"/>
          <p:cNvSpPr txBox="1"/>
          <p:nvPr/>
        </p:nvSpPr>
        <p:spPr>
          <a:xfrm>
            <a:off x="6212213" y="3401600"/>
            <a:ext cx="22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https://html.scirp.org/file/102349x2.png</a:t>
            </a:r>
            <a:endParaRPr sz="7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5"/>
          <p:cNvSpPr txBox="1"/>
          <p:nvPr/>
        </p:nvSpPr>
        <p:spPr>
          <a:xfrm>
            <a:off x="1738575" y="1414900"/>
            <a:ext cx="3531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φ̇ = [ φ̇₁    φ̇₂    φ̇₃ ]</a:t>
            </a:r>
            <a:endParaRPr sz="2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568175" y="266170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velocity in global frame: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3685175" y="2661700"/>
            <a:ext cx="1682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ξ̇ = </a:t>
            </a:r>
            <a:endParaRPr sz="2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45"/>
          <p:cNvSpPr txBox="1"/>
          <p:nvPr/>
        </p:nvSpPr>
        <p:spPr>
          <a:xfrm>
            <a:off x="803625" y="390850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Mapping:  ξ̇ = R(θ)⁻¹ J φ̇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" name="Google Shape;34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688" y="1686697"/>
            <a:ext cx="2709375" cy="2550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3&quot;,&quot;font&quot;:{&quot;color&quot;:&quot;#333333&quot;,&quot;family&quot;:&quot;Arial&quot;,&quot;size&quot;:23},&quot;code&quot;:&quot;$$\\begin{bmatrix}\n{ẋ}\\\\\n{ẏ}\\\\\n{θ̇}\\\\\n\\end{bmatrix}$$&quot;,&quot;aid&quot;:null,&quot;backgroundColorModified&quot;:false,&quot;backgroundColor&quot;:&quot;#FFFFFF&quot;,&quot;type&quot;:&quot;$$&quot;,&quot;ts&quot;:1757958740031,&quot;cs&quot;:&quot;Kx+Wzi66BfZU2F1dHonb6w==&quot;,&quot;size&quot;:{&quot;width&quot;:45.666666666666664,&quot;height&quot;:136.83333333333334}}" id="341" name="Google Shape;34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403" y="2810425"/>
            <a:ext cx="434975" cy="1303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6"/>
          <p:cNvSpPr txBox="1"/>
          <p:nvPr/>
        </p:nvSpPr>
        <p:spPr>
          <a:xfrm>
            <a:off x="493425" y="231750"/>
            <a:ext cx="785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Force Balance (Newton’s Laws)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46"/>
          <p:cNvSpPr txBox="1"/>
          <p:nvPr/>
        </p:nvSpPr>
        <p:spPr>
          <a:xfrm>
            <a:off x="493425" y="953200"/>
            <a:ext cx="18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Apply ∑F = m ä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46"/>
          <p:cNvSpPr txBox="1"/>
          <p:nvPr/>
        </p:nvSpPr>
        <p:spPr>
          <a:xfrm>
            <a:off x="568175" y="1594325"/>
            <a:ext cx="4003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X-direction:  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F₁ cos(π/6) − F₂ cos(2π/3) = m ẍ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46"/>
          <p:cNvSpPr txBox="1"/>
          <p:nvPr/>
        </p:nvSpPr>
        <p:spPr>
          <a:xfrm>
            <a:off x="478475" y="2435700"/>
            <a:ext cx="450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-direction:  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F₁ sin(π/6) + F₂ sin(2π/6) − F₃ = m ÿ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6"/>
          <p:cNvSpPr txBox="1"/>
          <p:nvPr/>
        </p:nvSpPr>
        <p:spPr>
          <a:xfrm>
            <a:off x="628000" y="3401600"/>
            <a:ext cx="4216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Rotation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l F₁ + l F₂ + l F₃ = I θ̈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1" name="Google Shape;3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050" y="1414897"/>
            <a:ext cx="2499825" cy="23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/>
        </p:nvSpPr>
        <p:spPr>
          <a:xfrm>
            <a:off x="493425" y="231750"/>
            <a:ext cx="785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Matrix Form of Dynamics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47"/>
          <p:cNvSpPr txBox="1"/>
          <p:nvPr/>
        </p:nvSpPr>
        <p:spPr>
          <a:xfrm>
            <a:off x="493425" y="953200"/>
            <a:ext cx="18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Compact form: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2272700" y="1355100"/>
            <a:ext cx="158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M ξ̈ = B 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47"/>
          <p:cNvSpPr txBox="1"/>
          <p:nvPr/>
        </p:nvSpPr>
        <p:spPr>
          <a:xfrm>
            <a:off x="590600" y="1949775"/>
            <a:ext cx="43287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Where M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b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 =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0" name="Google Shape;36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3800" y="1414910"/>
            <a:ext cx="2634624" cy="2479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begin{bmatrix}\n{m}&amp;{0}&amp;{0}\\\\\n{0}&amp;{m}&amp;{0}\\\\\n{0}&amp;{0}&amp;{l}\\\\\n\\end{bmatrix}$$&quot;,&quot;backgroundColorModified&quot;:false,&quot;id&quot;:&quot;14&quot;,&quot;type&quot;:&quot;$$&quot;,&quot;font&quot;:{&quot;color&quot;:&quot;#000000&quot;,&quot;family&quot;:&quot;Arial&quot;,&quot;size&quot;:25.5},&quot;aid&quot;:null,&quot;ts&quot;:1757958953621,&quot;cs&quot;:&quot;f26o+YLrQGL9z2Ins0Co0A==&quot;,&quot;size&quot;:{&quot;width&quot;:197.60000000000005,&quot;height&quot;:151.60000000000002}}" id="361" name="Google Shape;36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1628" y="2412933"/>
            <a:ext cx="1882140" cy="1443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/>
        </p:nvSpPr>
        <p:spPr>
          <a:xfrm>
            <a:off x="493425" y="231750"/>
            <a:ext cx="785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Matrix Form of Dynamics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48"/>
          <p:cNvSpPr txBox="1"/>
          <p:nvPr/>
        </p:nvSpPr>
        <p:spPr>
          <a:xfrm>
            <a:off x="2257750" y="1198100"/>
            <a:ext cx="158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M ξ̈ = B 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48"/>
          <p:cNvSpPr txBox="1"/>
          <p:nvPr/>
        </p:nvSpPr>
        <p:spPr>
          <a:xfrm>
            <a:off x="590600" y="1949775"/>
            <a:ext cx="5053800" cy="2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Where B:  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 =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9" name="Google Shape;36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375" y="1462025"/>
            <a:ext cx="2549350" cy="23997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21},&quot;code&quot;:&quot;$$\\begin{bmatrix}\n{cos(\\pi /6)}&amp;{cos(-2\\pi /3)}&amp;{0}\\\\\n{\\sin(\\pi /6)}&amp;{cos(2\\pi /6)}&amp;{-1}\\\\\n{1}&amp;{1}&amp;{1}\\\\\n\\end{bmatrix}$$&quot;,&quot;backgroundColor&quot;:&quot;#FFFFFF&quot;,&quot;type&quot;:&quot;$$&quot;,&quot;aid&quot;:null,&quot;backgroundColorModified&quot;:false,&quot;id&quot;:&quot;15&quot;,&quot;ts&quot;:1757959713543,&quot;cs&quot;:&quot;uxcPrHRqa74v/oQYz7xCdQ==&quot;,&quot;size&quot;:{&quot;width&quot;:356.68510551181106,&quot;height&quot;:126.3201947506562}}" id="370" name="Google Shape;37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7750" y="2343875"/>
            <a:ext cx="3397426" cy="12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 txBox="1"/>
          <p:nvPr/>
        </p:nvSpPr>
        <p:spPr>
          <a:xfrm>
            <a:off x="493425" y="231750"/>
            <a:ext cx="785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Properties of B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9"/>
          <p:cNvSpPr txBox="1"/>
          <p:nvPr/>
        </p:nvSpPr>
        <p:spPr>
          <a:xfrm>
            <a:off x="568175" y="1148700"/>
            <a:ext cx="50538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All terms are constants (geometry-based).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" sz="1800">
                <a:latin typeface="Times New Roman"/>
                <a:ea typeface="Times New Roman"/>
                <a:cs typeface="Times New Roman"/>
                <a:sym typeface="Times New Roman"/>
              </a:rPr>
              <a:t>-1 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exists because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det⁡(B)≠0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Therefore, forces ↔ accelerations are uniquely related.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7" name="Google Shape;37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675" y="1353148"/>
            <a:ext cx="2968425" cy="279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0"/>
          <p:cNvSpPr txBox="1"/>
          <p:nvPr/>
        </p:nvSpPr>
        <p:spPr>
          <a:xfrm>
            <a:off x="493425" y="231750"/>
            <a:ext cx="785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Introduction to Lagrangian Dynamics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50"/>
          <p:cNvSpPr txBox="1"/>
          <p:nvPr/>
        </p:nvSpPr>
        <p:spPr>
          <a:xfrm>
            <a:off x="568175" y="1148700"/>
            <a:ext cx="50538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Goal: derive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dynamic model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of a mobile robot.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Generalized coordinates: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font&quot;:{&quot;family&quot;:&quot;Arial&quot;,&quot;size&quot;:12,&quot;color&quot;:&quot;#000000&quot;},&quot;backgroundColor&quot;:&quot;#FFFFFF&quot;,&quot;backgroundColorModified&quot;:false,&quot;code&quot;:&quot;$$\\begin{bmatrix}\n{X}\\\\\n{Y}\\\\\n{θ}\\\\\n\\end{bmatrix}$$&quot;,&quot;id&quot;:&quot;2&quot;,&quot;aid&quot;:null,&quot;type&quot;:&quot;$$&quot;,&quot;ts&quot;:1757949899691,&quot;cs&quot;:&quot;UFsrbI448iNz5g7aHNB7RA==&quot;,&quot;size&quot;:{&quot;width&quot;:29.333333333333332,&quot;height&quot;:71.33333333333333}}" id="384" name="Google Shape;38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0500" y="1495188"/>
            <a:ext cx="571500" cy="138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3&quot;,&quot;font&quot;:{&quot;color&quot;:&quot;#333333&quot;,&quot;family&quot;:&quot;Arial&quot;,&quot;size&quot;:23},&quot;code&quot;:&quot;$$\\begin{bmatrix}\n{ẋ}\\\\\n{ẏ}\\\\\n{θ̇}\\\\\n\\end{bmatrix}$$&quot;,&quot;aid&quot;:null,&quot;backgroundColorModified&quot;:false,&quot;backgroundColor&quot;:&quot;#FFFFFF&quot;,&quot;type&quot;:&quot;$$&quot;,&quot;ts&quot;:1757958740031,&quot;cs&quot;:&quot;Kx+Wzi66BfZU2F1dHonb6w==&quot;,&quot;size&quot;:{&quot;width&quot;:45.666666666666664,&quot;height&quot;:136.83333333333334}}" id="385" name="Google Shape;38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7150" y="1430488"/>
            <a:ext cx="507000" cy="151916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0"/>
          <p:cNvSpPr txBox="1"/>
          <p:nvPr/>
        </p:nvSpPr>
        <p:spPr>
          <a:xfrm>
            <a:off x="2564275" y="1846575"/>
            <a:ext cx="93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q = </a:t>
            </a:r>
            <a:endParaRPr sz="24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50"/>
          <p:cNvSpPr txBox="1"/>
          <p:nvPr/>
        </p:nvSpPr>
        <p:spPr>
          <a:xfrm>
            <a:off x="3999675" y="1973688"/>
            <a:ext cx="50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q̇</a:t>
            </a:r>
            <a:r>
              <a:rPr lang="en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 sz="20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50"/>
          <p:cNvSpPr txBox="1"/>
          <p:nvPr/>
        </p:nvSpPr>
        <p:spPr>
          <a:xfrm>
            <a:off x="568175" y="3094025"/>
            <a:ext cx="5554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Forces act on wheels (F1,F2​) → mapped into robot body motion.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Lagrangian mechanics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</a:t>
            </a: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 L  =  k − V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(with V=0 for planar robots).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9" name="Google Shape;38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0375" y="1080188"/>
            <a:ext cx="2716225" cy="2219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1"/>
          <p:cNvSpPr txBox="1"/>
          <p:nvPr/>
        </p:nvSpPr>
        <p:spPr>
          <a:xfrm>
            <a:off x="493425" y="231750"/>
            <a:ext cx="78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Kinetic Energy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51"/>
          <p:cNvSpPr txBox="1"/>
          <p:nvPr/>
        </p:nvSpPr>
        <p:spPr>
          <a:xfrm>
            <a:off x="560700" y="692675"/>
            <a:ext cx="7348800" cy="4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Translational energy: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Kt = ½ m (vₓ² + vᵧ²)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Rotational energy: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Kr = ½ Izz ω²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energy: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K = ½ m (vₓ² + vᵧ²) + ½ Izz ω²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Body velocities in global frame: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vₓ = ẋ cosθ + ẏ sinθ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vᵧ = −ẋ sinθ + ẏ cosθ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" name="Google Shape;39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925" y="1065975"/>
            <a:ext cx="3479999" cy="28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2"/>
          <p:cNvSpPr txBox="1"/>
          <p:nvPr/>
        </p:nvSpPr>
        <p:spPr>
          <a:xfrm>
            <a:off x="493425" y="231750"/>
            <a:ext cx="785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Lagrangian and Euler–Lagrange Equation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52"/>
          <p:cNvSpPr txBox="1"/>
          <p:nvPr/>
        </p:nvSpPr>
        <p:spPr>
          <a:xfrm>
            <a:off x="560700" y="692675"/>
            <a:ext cx="73488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Lagrangian:</a:t>
            </a:r>
            <a:b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 L = ½ m (vₓ² + vᵧ²) + ½ Izz ω²</a:t>
            </a:r>
            <a:b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Euler–Lagrange equation: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F = generalized forces </a:t>
            </a:r>
            <a:b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(from wheel forces).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3" name="Google Shape;40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900" y="1380300"/>
            <a:ext cx="2841049" cy="232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&quot;,&quot;font&quot;:{&quot;color&quot;:&quot;#000000&quot;,&quot;family&quot;:&quot;Arial&quot;,&quot;size&quot;:22},&quot;backgroundColor&quot;:&quot;#FFFFFF&quot;,&quot;aid&quot;:null,&quot;code&quot;:&quot;$$\\diff{}{t}\\left(\\pdf{L}{\\dot{q}}\\right)\\,-\\,\\pdf{L}{q}\\,=\\,F\\,$$&quot;,&quot;backgroundColorModified&quot;:false,&quot;type&quot;:&quot;$$&quot;,&quot;ts&quot;:1758551019994,&quot;cs&quot;:&quot;NQPm9ZBIunXyV2wZUoQkEA==&quot;,&quot;size&quot;:{&quot;width&quot;:346.3333333333333,&quot;height&quot;:82.66666666666667}}" id="404" name="Google Shape;40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550" y="2407275"/>
            <a:ext cx="3298825" cy="7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3"/>
          <p:cNvSpPr txBox="1"/>
          <p:nvPr/>
        </p:nvSpPr>
        <p:spPr>
          <a:xfrm>
            <a:off x="493425" y="231750"/>
            <a:ext cx="785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3000"/>
              <a:t>Expanding the Terms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53"/>
          <p:cNvSpPr txBox="1"/>
          <p:nvPr/>
        </p:nvSpPr>
        <p:spPr>
          <a:xfrm>
            <a:off x="493425" y="967600"/>
            <a:ext cx="7348800" cy="3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Example partial derivatives: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= m (ẋ cos²θ + ẏ sinθ cosθ)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= m (ẏ cos²θ + ẋ sinθ cosθ)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= Izz θ̇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These lead to equations of motion in matrix form.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1" name="Google Shape;41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1225" y="1169475"/>
            <a:ext cx="2850224" cy="232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000000&quot;,&quot;size&quot;:18},&quot;aid&quot;:null,&quot;code&quot;:&quot;$$\\pdf{L}{\\dot{x}}$$&quot;,&quot;backgroundColorModified&quot;:false,&quot;id&quot;:&quot;2&quot;,&quot;backgroundColor&quot;:&quot;#FFFFFF&quot;,&quot;type&quot;:&quot;$$&quot;,&quot;ts&quot;:1758551084823,&quot;cs&quot;:&quot;q9+BP8ABV0abqJbOESAD5g==&quot;,&quot;size&quot;:{&quot;width&quot;:41,&quot;height&quot;:60.333333333333336}}" id="412" name="Google Shape;41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2750" y="1706788"/>
            <a:ext cx="390525" cy="57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$&quot;,&quot;id&quot;:&quot;3&quot;,&quot;code&quot;:&quot;$$\\pdf{L}{\\dot{y}}$$&quot;,&quot;font&quot;:{&quot;size&quot;:18,&quot;color&quot;:&quot;#000000&quot;,&quot;family&quot;:&quot;Arial&quot;},&quot;aid&quot;:null,&quot;backgroundColorModified&quot;:false,&quot;ts&quot;:1758551110074,&quot;cs&quot;:&quot;H1NONae2XWdcomAmA0d4vg==&quot;,&quot;size&quot;:{&quot;width&quot;:41,&quot;height&quot;:65.5}}" id="413" name="Google Shape;41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2750" y="2437200"/>
            <a:ext cx="390525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pdf{L}{\\dot{\\theta}}$$&quot;,&quot;backgroundColor&quot;:&quot;#FFFFFF&quot;,&quot;font&quot;:{&quot;size&quot;:18,&quot;family&quot;:&quot;Arial&quot;,&quot;color&quot;:&quot;#000000&quot;},&quot;type&quot;:&quot;$$&quot;,&quot;id&quot;:&quot;4&quot;,&quot;backgroundColorModified&quot;:false,&quot;aid&quot;:null,&quot;ts&quot;:1758551141212,&quot;cs&quot;:&quot;5mc8+I4EbjHnAM/u/6uenQ==&quot;,&quot;size&quot;:{&quot;width&quot;:41,&quot;height&quot;:67.66666666666667}}" id="414" name="Google Shape;414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2750" y="3216825"/>
            <a:ext cx="390525" cy="6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