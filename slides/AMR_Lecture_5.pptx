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5143500" cx="9144000"/>
  <p:notesSz cx="6858000" cy="9144000"/>
  <p:embeddedFontLst>
    <p:embeddedFont>
      <p:font typeface="Montserrat SemiBold"/>
      <p:regular r:id="rId38"/>
      <p:bold r:id="rId39"/>
      <p:italic r:id="rId40"/>
      <p:boldItalic r:id="rId41"/>
    </p:embeddedFont>
    <p:embeddedFont>
      <p:font typeface="Roboto"/>
      <p:regular r:id="rId42"/>
      <p:bold r:id="rId43"/>
      <p:italic r:id="rId44"/>
      <p:boldItalic r:id="rId45"/>
    </p:embeddedFont>
    <p:embeddedFont>
      <p:font typeface="Montserrat"/>
      <p:regular r:id="rId46"/>
      <p:bold r:id="rId47"/>
      <p:italic r:id="rId48"/>
      <p:boldItalic r:id="rId49"/>
    </p:embeddedFont>
    <p:embeddedFont>
      <p:font typeface="Frank Ruhl Libre"/>
      <p:regular r:id="rId50"/>
      <p:bold r:id="rId51"/>
    </p:embeddedFont>
    <p:embeddedFont>
      <p:font typeface="Montserrat ExtraBold"/>
      <p:bold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EDF6D20-C667-4EFB-8307-5F6CC2E36B87}">
  <a:tblStyle styleId="{6EDF6D20-C667-4EFB-8307-5F6CC2E36B8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SemiBold-italic.fntdata"/><Relationship Id="rId42" Type="http://schemas.openxmlformats.org/officeDocument/2006/relationships/font" Target="fonts/Roboto-regular.fntdata"/><Relationship Id="rId41" Type="http://schemas.openxmlformats.org/officeDocument/2006/relationships/font" Target="fonts/MontserratSemiBold-boldItalic.fntdata"/><Relationship Id="rId44" Type="http://schemas.openxmlformats.org/officeDocument/2006/relationships/font" Target="fonts/Roboto-italic.fntdata"/><Relationship Id="rId43" Type="http://schemas.openxmlformats.org/officeDocument/2006/relationships/font" Target="fonts/Roboto-bold.fntdata"/><Relationship Id="rId46" Type="http://schemas.openxmlformats.org/officeDocument/2006/relationships/font" Target="fonts/Montserrat-regular.fntdata"/><Relationship Id="rId45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Montserrat-italic.fntdata"/><Relationship Id="rId47" Type="http://schemas.openxmlformats.org/officeDocument/2006/relationships/font" Target="fonts/Montserrat-bold.fntdata"/><Relationship Id="rId49" Type="http://schemas.openxmlformats.org/officeDocument/2006/relationships/font" Target="fonts/Montserra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font" Target="fonts/MontserratSemiBold-bold.fntdata"/><Relationship Id="rId38" Type="http://schemas.openxmlformats.org/officeDocument/2006/relationships/font" Target="fonts/MontserratSemiBold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FrankRuhlLibre-bold.fntdata"/><Relationship Id="rId50" Type="http://schemas.openxmlformats.org/officeDocument/2006/relationships/font" Target="fonts/FrankRuhlLibre-regular.fntdata"/><Relationship Id="rId53" Type="http://schemas.openxmlformats.org/officeDocument/2006/relationships/font" Target="fonts/MontserratExtraBold-boldItalic.fntdata"/><Relationship Id="rId52" Type="http://schemas.openxmlformats.org/officeDocument/2006/relationships/font" Target="fonts/MontserratExtraBold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806743487f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806743487f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8d21c9d8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48d21c9d8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806743487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806743487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48ef263fc_28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848ef263fc_28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48ef263fc_9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848ef263fc_9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503be1aa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8503be1aa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503be1aa1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8503be1aa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503be1aa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8503be1aa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8503be1aa1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8503be1aa1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8503be1aa1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8503be1aa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8503be1aa1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8503be1aa1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503be1aa1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8503be1aa1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8503be1aa1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8503be1aa1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8503be1aa1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8503be1aa1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8503be1aa1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8503be1aa1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9bea78fe68_25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9bea78fe68_2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8503be1aa1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8503be1aa1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8503be1aa1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8503be1aa1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8503be1aa1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8503be1aa1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8503be1aa1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8503be1aa1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8503be1aa1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8503be1aa1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8503be1aa1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8503be1aa1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8503be1aa1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8503be1aa1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8503be1aa1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8503be1aa1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8503be1aa1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8503be1aa1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8503be1aa1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8503be1aa1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8503be1aa1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8503be1aa1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8503be1aa1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8503be1aa1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8503be1aa1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8503be1aa1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8503be1aa1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8503be1aa1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jp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Relationship Id="rId3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jpg"/><Relationship Id="rId3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bg>
      <p:bgPr>
        <a:solidFill>
          <a:srgbClr val="220337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7363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title"/>
          </p:nvPr>
        </p:nvSpPr>
        <p:spPr>
          <a:xfrm>
            <a:off x="904850" y="1253682"/>
            <a:ext cx="7333800" cy="15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body"/>
          </p:nvPr>
        </p:nvSpPr>
        <p:spPr>
          <a:xfrm>
            <a:off x="2496200" y="4275729"/>
            <a:ext cx="4151400" cy="3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●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92100" lvl="1" marL="9144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○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92100" lvl="2" marL="13716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■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292100" lvl="3" marL="18288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●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292100" lvl="4" marL="22860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○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292100" lvl="5" marL="27432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■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indent="-292100" lvl="6" marL="32004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●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indent="-292100" lvl="7" marL="36576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○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indent="-292100" lvl="8" marL="41148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■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2496200" y="2791614"/>
            <a:ext cx="4151400" cy="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2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1_1_1_1">
    <p:bg>
      <p:bgPr>
        <a:solidFill>
          <a:srgbClr val="220337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 b="367" l="308" r="327" t="357"/>
          <a:stretch/>
        </p:blipFill>
        <p:spPr>
          <a:xfrm>
            <a:off x="0" y="250"/>
            <a:ext cx="9143997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ew York University logo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7363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/>
          <p:nvPr>
            <p:ph type="title"/>
          </p:nvPr>
        </p:nvSpPr>
        <p:spPr>
          <a:xfrm>
            <a:off x="904850" y="1253682"/>
            <a:ext cx="7333800" cy="15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2496200" y="4275729"/>
            <a:ext cx="4151400" cy="3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●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92100" lvl="1" marL="914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○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92100" lvl="2" marL="1371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■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292100" lvl="3" marL="1828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●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292100" lvl="4" marL="22860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○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292100" lvl="5" marL="2743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■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indent="-292100" lvl="6" marL="3200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●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indent="-292100" lvl="7" marL="3657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○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indent="-292100" lvl="8" marL="4114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■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2496200" y="2791614"/>
            <a:ext cx="4151400" cy="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2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>
            <p:ph type="title"/>
          </p:nvPr>
        </p:nvSpPr>
        <p:spPr>
          <a:xfrm>
            <a:off x="1506000" y="1385509"/>
            <a:ext cx="6131700" cy="163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2462575" y="2959018"/>
            <a:ext cx="4218600" cy="7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/>
        </p:nvSpPr>
        <p:spPr>
          <a:xfrm>
            <a:off x="4583948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 " id="26" name="Google Shape;26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 txBox="1"/>
          <p:nvPr>
            <p:ph type="title"/>
          </p:nvPr>
        </p:nvSpPr>
        <p:spPr>
          <a:xfrm>
            <a:off x="311700" y="587975"/>
            <a:ext cx="6551100" cy="6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800"/>
              <a:buNone/>
              <a:defRPr sz="4800">
                <a:solidFill>
                  <a:srgbClr val="57068C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448400"/>
            <a:ext cx="6551100" cy="22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29" name="Google Shape;29;p5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32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587970"/>
            <a:ext cx="4945500" cy="11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800"/>
              <a:buNone/>
              <a:defRPr sz="4800">
                <a:solidFill>
                  <a:srgbClr val="57068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311700" y="2467949"/>
            <a:ext cx="3999900" cy="18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6"/>
          <p:cNvSpPr txBox="1"/>
          <p:nvPr>
            <p:ph idx="2" type="body"/>
          </p:nvPr>
        </p:nvSpPr>
        <p:spPr>
          <a:xfrm>
            <a:off x="4619925" y="2467949"/>
            <a:ext cx="3999900" cy="18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descr=" " id="34" name="Google Shape;3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" name="Google Shape;36;p6"/>
          <p:cNvSpPr txBox="1"/>
          <p:nvPr>
            <p:ph idx="3" type="subTitle"/>
          </p:nvPr>
        </p:nvSpPr>
        <p:spPr>
          <a:xfrm>
            <a:off x="311700" y="2054620"/>
            <a:ext cx="3999900" cy="4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4" type="subTitle"/>
          </p:nvPr>
        </p:nvSpPr>
        <p:spPr>
          <a:xfrm>
            <a:off x="4619925" y="2054620"/>
            <a:ext cx="3999900" cy="4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chemeClr val="dk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pic>
        <p:nvPicPr>
          <p:cNvPr id="38" name="Google Shape;38;p6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530680"/>
            <a:ext cx="842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None/>
              <a:defRPr>
                <a:solidFill>
                  <a:srgbClr val="57068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descr=" " id="41" name="Google Shape;4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" name="Google Shape;43;p7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311700" y="708000"/>
            <a:ext cx="3132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2400"/>
              <a:buNone/>
              <a:defRPr sz="2400">
                <a:solidFill>
                  <a:srgbClr val="57068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311700" y="1542000"/>
            <a:ext cx="3054600" cy="28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descr=" " id="47" name="Google Shape;4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8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9" name="Google Shape;49;p8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32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1772975" y="528144"/>
            <a:ext cx="5597700" cy="247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5600"/>
              <a:buNone/>
              <a:defRPr sz="5600">
                <a:solidFill>
                  <a:srgbClr val="57068C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descr=" " id="52" name="Google Shape;5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9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" name="Google Shape;54;p9"/>
          <p:cNvSpPr txBox="1"/>
          <p:nvPr>
            <p:ph idx="1" type="body"/>
          </p:nvPr>
        </p:nvSpPr>
        <p:spPr>
          <a:xfrm>
            <a:off x="2120250" y="2660325"/>
            <a:ext cx="4903500" cy="16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" id="56" name="Google Shape;56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0"/>
          <p:cNvSpPr txBox="1"/>
          <p:nvPr>
            <p:ph type="title"/>
          </p:nvPr>
        </p:nvSpPr>
        <p:spPr>
          <a:xfrm>
            <a:off x="294375" y="1233175"/>
            <a:ext cx="40791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None/>
              <a:defRPr sz="3600">
                <a:solidFill>
                  <a:srgbClr val="57068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8" name="Google Shape;58;p10"/>
          <p:cNvSpPr txBox="1"/>
          <p:nvPr>
            <p:ph idx="1" type="subTitle"/>
          </p:nvPr>
        </p:nvSpPr>
        <p:spPr>
          <a:xfrm>
            <a:off x="294375" y="2803075"/>
            <a:ext cx="36168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6ABA"/>
              </a:buClr>
              <a:buSzPts val="1800"/>
              <a:buNone/>
              <a:defRPr>
                <a:solidFill>
                  <a:srgbClr val="9A6ABA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" name="Google Shape;59;p10"/>
          <p:cNvSpPr txBox="1"/>
          <p:nvPr>
            <p:ph idx="2" type="body"/>
          </p:nvPr>
        </p:nvSpPr>
        <p:spPr>
          <a:xfrm>
            <a:off x="4939500" y="724075"/>
            <a:ext cx="3837000" cy="355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descr=" " id="60" name="Google Shape;60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0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63" name="Google Shape;6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1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1"/>
          <p:cNvSpPr txBox="1"/>
          <p:nvPr>
            <p:ph type="title"/>
          </p:nvPr>
        </p:nvSpPr>
        <p:spPr>
          <a:xfrm>
            <a:off x="311700" y="3619355"/>
            <a:ext cx="45117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None/>
              <a:defRPr b="0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66" name="Google Shape;66;p11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65" y="0"/>
            <a:ext cx="913607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2"/>
          <p:cNvSpPr txBox="1"/>
          <p:nvPr>
            <p:ph hasCustomPrompt="1" type="title"/>
          </p:nvPr>
        </p:nvSpPr>
        <p:spPr>
          <a:xfrm>
            <a:off x="311700" y="606575"/>
            <a:ext cx="8520600" cy="16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3000"/>
              <a:buNone/>
              <a:defRPr sz="13000">
                <a:solidFill>
                  <a:srgbClr val="57068C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007950" y="3094875"/>
            <a:ext cx="3128100" cy="11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pic>
        <p:nvPicPr>
          <p:cNvPr descr=" " id="71" name="Google Shape;71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2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2"/>
          <p:cNvSpPr txBox="1"/>
          <p:nvPr>
            <p:ph idx="2" type="subTitle"/>
          </p:nvPr>
        </p:nvSpPr>
        <p:spPr>
          <a:xfrm>
            <a:off x="1429500" y="2353776"/>
            <a:ext cx="6285000" cy="4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chemeClr val="accent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nd Text">
  <p:cSld name="CUSTOM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5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6" name="Google Shape;7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3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3"/>
          <p:cNvSpPr txBox="1"/>
          <p:nvPr>
            <p:ph type="title"/>
          </p:nvPr>
        </p:nvSpPr>
        <p:spPr>
          <a:xfrm>
            <a:off x="4969800" y="1412750"/>
            <a:ext cx="3766800" cy="137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None/>
              <a:defRPr>
                <a:solidFill>
                  <a:srgbClr val="57068C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" type="body"/>
          </p:nvPr>
        </p:nvSpPr>
        <p:spPr>
          <a:xfrm>
            <a:off x="4969675" y="2901150"/>
            <a:ext cx="3766800" cy="13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CUSTOM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81" name="Google Shape;8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4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4"/>
          <p:cNvSpPr txBox="1"/>
          <p:nvPr>
            <p:ph type="title"/>
          </p:nvPr>
        </p:nvSpPr>
        <p:spPr>
          <a:xfrm>
            <a:off x="311700" y="587975"/>
            <a:ext cx="3610800" cy="8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000"/>
              <a:buNone/>
              <a:defRPr sz="4000">
                <a:solidFill>
                  <a:srgbClr val="57068C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" type="body"/>
          </p:nvPr>
        </p:nvSpPr>
        <p:spPr>
          <a:xfrm>
            <a:off x="311700" y="1836175"/>
            <a:ext cx="3610800" cy="24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14"/>
          <p:cNvSpPr txBox="1"/>
          <p:nvPr/>
        </p:nvSpPr>
        <p:spPr>
          <a:xfrm>
            <a:off x="5958050" y="683000"/>
            <a:ext cx="2778600" cy="1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4"/>
          <p:cNvSpPr txBox="1"/>
          <p:nvPr>
            <p:ph idx="2" type="body"/>
          </p:nvPr>
        </p:nvSpPr>
        <p:spPr>
          <a:xfrm>
            <a:off x="5824575" y="683050"/>
            <a:ext cx="2911800" cy="109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600"/>
              </a:spcBef>
              <a:spcAft>
                <a:spcPts val="6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7" name="Google Shape;87;p14"/>
          <p:cNvSpPr txBox="1"/>
          <p:nvPr>
            <p:ph idx="3" type="body"/>
          </p:nvPr>
        </p:nvSpPr>
        <p:spPr>
          <a:xfrm>
            <a:off x="5824575" y="1931875"/>
            <a:ext cx="2911800" cy="109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600"/>
              </a:spcBef>
              <a:spcAft>
                <a:spcPts val="6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8" name="Google Shape;88;p14"/>
          <p:cNvSpPr txBox="1"/>
          <p:nvPr>
            <p:ph idx="4" type="body"/>
          </p:nvPr>
        </p:nvSpPr>
        <p:spPr>
          <a:xfrm>
            <a:off x="5824575" y="3180700"/>
            <a:ext cx="2911800" cy="109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600"/>
              </a:spcBef>
              <a:spcAft>
                <a:spcPts val="600"/>
              </a:spcAft>
              <a:buSzPts val="1000"/>
              <a:buChar char="■"/>
              <a:defRPr sz="1000"/>
            </a:lvl9pPr>
          </a:lstStyle>
          <a:p/>
        </p:txBody>
      </p:sp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0">
          <p15:clr>
            <a:srgbClr val="FA7B17"/>
          </p15:clr>
        </p15:guide>
        <p15:guide id="2" orient="horz" pos="432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2">
    <p:bg>
      <p:bgPr>
        <a:solidFill>
          <a:srgbClr val="220337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2" name="Google Shape;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5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904850" y="1264532"/>
            <a:ext cx="6710700" cy="15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5" name="Google Shape;95;p15"/>
          <p:cNvSpPr txBox="1"/>
          <p:nvPr>
            <p:ph idx="1" type="subTitle"/>
          </p:nvPr>
        </p:nvSpPr>
        <p:spPr>
          <a:xfrm>
            <a:off x="974919" y="3029082"/>
            <a:ext cx="37152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pic>
        <p:nvPicPr>
          <p:cNvPr descr=" " id="96" name="Google Shape;9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CUSTOM_3">
    <p:bg>
      <p:bgPr>
        <a:solidFill>
          <a:schemeClr val="lt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2802" y="-34225"/>
            <a:ext cx="9269596" cy="5180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6"/>
          <p:cNvSpPr txBox="1"/>
          <p:nvPr>
            <p:ph type="title"/>
          </p:nvPr>
        </p:nvSpPr>
        <p:spPr>
          <a:xfrm>
            <a:off x="592275" y="522825"/>
            <a:ext cx="8144400" cy="375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folio" type="blank">
  <p:cSld name="BLANK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03" name="Google Shape;103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68825"/>
            <a:ext cx="842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Frank Ruhl Libre"/>
              <a:buNone/>
              <a:defRPr b="1" sz="3600">
                <a:solidFill>
                  <a:srgbClr val="57068C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424900" cy="3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800"/>
              <a:buFont typeface="Montserrat"/>
              <a:buChar char="●"/>
              <a:defRPr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6">
          <p15:clr>
            <a:srgbClr val="EA4335"/>
          </p15:clr>
        </p15:guide>
        <p15:guide id="2" orient="horz" pos="3025">
          <p15:clr>
            <a:srgbClr val="EA4335"/>
          </p15:clr>
        </p15:guide>
        <p15:guide id="3" pos="5503">
          <p15:clr>
            <a:srgbClr val="EA4335"/>
          </p15:clr>
        </p15:guide>
        <p15:guide id="4" orient="horz" pos="269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youtube.com/watch?v=wOQDGvCLOs8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Relationship Id="rId6" Type="http://schemas.openxmlformats.org/officeDocument/2006/relationships/image" Target="../media/image7.png"/><Relationship Id="rId7" Type="http://schemas.openxmlformats.org/officeDocument/2006/relationships/image" Target="../media/image16.png"/><Relationship Id="rId8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Relationship Id="rId4" Type="http://schemas.openxmlformats.org/officeDocument/2006/relationships/image" Target="../media/image32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Relationship Id="rId4" Type="http://schemas.openxmlformats.org/officeDocument/2006/relationships/image" Target="../media/image36.png"/><Relationship Id="rId5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3.png"/><Relationship Id="rId4" Type="http://schemas.openxmlformats.org/officeDocument/2006/relationships/image" Target="../media/image25.png"/><Relationship Id="rId5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3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5.png"/><Relationship Id="rId4" Type="http://schemas.openxmlformats.org/officeDocument/2006/relationships/image" Target="../media/image24.png"/><Relationship Id="rId5" Type="http://schemas.openxmlformats.org/officeDocument/2006/relationships/image" Target="../media/image5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6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7.png"/><Relationship Id="rId4" Type="http://schemas.openxmlformats.org/officeDocument/2006/relationships/image" Target="../media/image33.png"/><Relationship Id="rId5" Type="http://schemas.openxmlformats.org/officeDocument/2006/relationships/image" Target="../media/image4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3.png"/><Relationship Id="rId4" Type="http://schemas.openxmlformats.org/officeDocument/2006/relationships/image" Target="../media/image4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4.png"/><Relationship Id="rId4" Type="http://schemas.openxmlformats.org/officeDocument/2006/relationships/image" Target="../media/image42.png"/><Relationship Id="rId5" Type="http://schemas.openxmlformats.org/officeDocument/2006/relationships/image" Target="../media/image5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4.png"/><Relationship Id="rId4" Type="http://schemas.openxmlformats.org/officeDocument/2006/relationships/image" Target="../media/image51.png"/><Relationship Id="rId5" Type="http://schemas.openxmlformats.org/officeDocument/2006/relationships/image" Target="../media/image55.png"/><Relationship Id="rId6" Type="http://schemas.openxmlformats.org/officeDocument/2006/relationships/image" Target="../media/image5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3.png"/><Relationship Id="rId4" Type="http://schemas.openxmlformats.org/officeDocument/2006/relationships/image" Target="../media/image62.png"/><Relationship Id="rId5" Type="http://schemas.openxmlformats.org/officeDocument/2006/relationships/image" Target="../media/image67.png"/><Relationship Id="rId6" Type="http://schemas.openxmlformats.org/officeDocument/2006/relationships/image" Target="../media/image69.png"/><Relationship Id="rId7" Type="http://schemas.openxmlformats.org/officeDocument/2006/relationships/image" Target="../media/image6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png"/><Relationship Id="rId4" Type="http://schemas.openxmlformats.org/officeDocument/2006/relationships/image" Target="../media/image6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7.png"/><Relationship Id="rId4" Type="http://schemas.openxmlformats.org/officeDocument/2006/relationships/image" Target="../media/image64.png"/><Relationship Id="rId5" Type="http://schemas.openxmlformats.org/officeDocument/2006/relationships/image" Target="../media/image66.png"/><Relationship Id="rId6" Type="http://schemas.openxmlformats.org/officeDocument/2006/relationships/image" Target="../media/image5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8.png"/><Relationship Id="rId4" Type="http://schemas.openxmlformats.org/officeDocument/2006/relationships/image" Target="../media/image70.png"/><Relationship Id="rId5" Type="http://schemas.openxmlformats.org/officeDocument/2006/relationships/image" Target="../media/image76.png"/><Relationship Id="rId6" Type="http://schemas.openxmlformats.org/officeDocument/2006/relationships/image" Target="../media/image6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8.png"/><Relationship Id="rId4" Type="http://schemas.openxmlformats.org/officeDocument/2006/relationships/image" Target="../media/image6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8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1.png"/><Relationship Id="rId4" Type="http://schemas.openxmlformats.org/officeDocument/2006/relationships/image" Target="../media/image87.png"/><Relationship Id="rId5" Type="http://schemas.openxmlformats.org/officeDocument/2006/relationships/image" Target="../media/image8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7.png"/><Relationship Id="rId4" Type="http://schemas.openxmlformats.org/officeDocument/2006/relationships/image" Target="../media/image80.png"/><Relationship Id="rId5" Type="http://schemas.openxmlformats.org/officeDocument/2006/relationships/image" Target="../media/image79.png"/><Relationship Id="rId6" Type="http://schemas.openxmlformats.org/officeDocument/2006/relationships/image" Target="../media/image86.png"/><Relationship Id="rId7" Type="http://schemas.openxmlformats.org/officeDocument/2006/relationships/image" Target="../media/image8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8.png"/><Relationship Id="rId4" Type="http://schemas.openxmlformats.org/officeDocument/2006/relationships/image" Target="../media/image8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4.png"/><Relationship Id="rId4" Type="http://schemas.openxmlformats.org/officeDocument/2006/relationships/image" Target="../media/image93.png"/><Relationship Id="rId5" Type="http://schemas.openxmlformats.org/officeDocument/2006/relationships/image" Target="../media/image89.png"/><Relationship Id="rId6" Type="http://schemas.openxmlformats.org/officeDocument/2006/relationships/image" Target="../media/image95.png"/><Relationship Id="rId7" Type="http://schemas.openxmlformats.org/officeDocument/2006/relationships/image" Target="../media/image9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2.png"/><Relationship Id="rId4" Type="http://schemas.openxmlformats.org/officeDocument/2006/relationships/image" Target="../media/image94.png"/><Relationship Id="rId5" Type="http://schemas.openxmlformats.org/officeDocument/2006/relationships/image" Target="../media/image96.png"/><Relationship Id="rId6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904850" y="1253682"/>
            <a:ext cx="7333800" cy="15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Autonomous Mobile Robots</a:t>
            </a:r>
            <a:endParaRPr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2496200" y="4275729"/>
            <a:ext cx="4151400" cy="3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Aliasghar Moj Arab</a:t>
            </a:r>
            <a:endParaRPr/>
          </a:p>
        </p:txBody>
      </p:sp>
      <p:sp>
        <p:nvSpPr>
          <p:cNvPr id="112" name="Google Shape;112;p19"/>
          <p:cNvSpPr txBox="1"/>
          <p:nvPr>
            <p:ph idx="2" type="subTitle"/>
          </p:nvPr>
        </p:nvSpPr>
        <p:spPr>
          <a:xfrm>
            <a:off x="2496200" y="2840512"/>
            <a:ext cx="4151400" cy="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Control and Planning: Autonomous Mobile Robots and Autonomous Vehicles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1506000" y="1385509"/>
            <a:ext cx="6131700" cy="163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Lecture 5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18" name="Google Shape;118;p20"/>
          <p:cNvSpPr txBox="1"/>
          <p:nvPr>
            <p:ph idx="1" type="subTitle"/>
          </p:nvPr>
        </p:nvSpPr>
        <p:spPr>
          <a:xfrm>
            <a:off x="2298100" y="2951550"/>
            <a:ext cx="4677000" cy="7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2"/>
                </a:solidFill>
              </a:rPr>
              <a:t>Advanced Model Predictive Control (NMPC) + Constraints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3793600" y="817178"/>
            <a:ext cx="1556700" cy="2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 A R T   0 1</a:t>
            </a:r>
            <a:endParaRPr sz="900">
              <a:solidFill>
                <a:schemeClr val="accent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120" name="Google Shape;120;p20"/>
          <p:cNvCxnSpPr/>
          <p:nvPr/>
        </p:nvCxnSpPr>
        <p:spPr>
          <a:xfrm>
            <a:off x="4231926" y="1084298"/>
            <a:ext cx="692400" cy="0"/>
          </a:xfrm>
          <a:prstGeom prst="straightConnector1">
            <a:avLst/>
          </a:prstGeom>
          <a:noFill/>
          <a:ln cap="flat" cmpd="sng" w="9525">
            <a:solidFill>
              <a:srgbClr val="57068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637500" y="314450"/>
            <a:ext cx="7869000" cy="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</a:t>
            </a:r>
            <a:endParaRPr sz="3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338975" y="844850"/>
            <a:ext cx="8212500" cy="36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AutoNum type="arabicPeriod"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&amp; Physical Constraints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rabicPeriod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Vehicle Kinematics &amp; Equations of Motion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rabicPeriod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&amp; Perception Fundamentals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rabicPeriod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Nonlinear Control Methods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AutoNum type="arabicPeriod"/>
            </a:pPr>
            <a:r>
              <a:rPr b="1"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Model Predictive Control (NMPC) + Constraints</a:t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rabicPeriod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Motion Planning Algorithms (RRT*, RRT, DWA, path generation)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rabicPeriod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Learning-Based Planning &amp; Control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rabicPeriod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Industry Standards, Architectures, &amp; Safety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38975" y="501350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Nonlinear Systems</a:t>
            </a:r>
            <a:endParaRPr sz="2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22"/>
          <p:cNvSpPr txBox="1"/>
          <p:nvPr/>
        </p:nvSpPr>
        <p:spPr>
          <a:xfrm>
            <a:off x="4275500" y="1256863"/>
            <a:ext cx="3421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Autonomous system: Independent of time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backgroundColor&quot;:&quot;#FFFFFF&quot;,&quot;backgroundColorModified&quot;:false,&quot;type&quot;:&quot;$$&quot;,&quot;aid&quot;:null,&quot;font&quot;:{&quot;size&quot;:23,&quot;family&quot;:&quot;Arial&quot;,&quot;color&quot;:&quot;#333333&quot;},&quot;id&quot;:&quot;1&quot;,&quot;code&quot;:&quot;$$\\dot{X\\,}\\,=\\,\\,f\\left(X\\right)$$&quot;,&quot;ts&quot;:1759733437764,&quot;cs&quot;:&quot;YdHHcaC/U4JUhu0fATRUDQ==&quot;,&quot;size&quot;:{&quot;width&quot;:182.83333333333334,&quot;height&quot;:41.833333333333336}}" id="133" name="Google Shape;13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323" y="1228955"/>
            <a:ext cx="1741488" cy="398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3&quot;,&quot;backgroundColorModified&quot;:false,&quot;type&quot;:&quot;$$&quot;,&quot;aid&quot;:null,&quot;font&quot;:{&quot;family&quot;:&quot;Arial&quot;,&quot;size&quot;:27,&quot;color&quot;:&quot;#000000&quot;},&quot;backgroundColor&quot;:&quot;#FFFFFF&quot;,&quot;code&quot;:&quot;$$u\\,=\\,g\\left(x\\right)$$&quot;,&quot;ts&quot;:1759731824802,&quot;cs&quot;:&quot;iLE+DPRc9FNP8vCZRz6fiw==&quot;,&quot;size&quot;:{&quot;width&quot;:174,&quot;height&quot;:42.5}}" id="134" name="Google Shape;13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6725" y="2816624"/>
            <a:ext cx="1413401" cy="345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2"/>
          <p:cNvSpPr txBox="1"/>
          <p:nvPr/>
        </p:nvSpPr>
        <p:spPr>
          <a:xfrm>
            <a:off x="530450" y="3602225"/>
            <a:ext cx="69582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For nonlinear systems, we study the behavior from equilibrium point to equilibrium point.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code&quot;:&quot;$$\\dot{X\\,}\\,=\\,\\,f\\left(X\\,,u\\right)$$&quot;,&quot;backgroundColorModified&quot;:false,&quot;id&quot;:&quot;1&quot;,&quot;aid&quot;:null,&quot;font&quot;:{&quot;size&quot;:23,&quot;family&quot;:&quot;Arial&quot;,&quot;color&quot;:&quot;#333333&quot;},&quot;type&quot;:&quot;$$&quot;,&quot;backgroundColor&quot;:&quot;#FFFFFF&quot;,&quot;ts&quot;:1759733374750,&quot;cs&quot;:&quot;4ezLkY+8AHQwu9/0g9xdnQ==&quot;,&quot;size&quot;:{&quot;width&quot;:227.22507296587932,&quot;height&quot;:42.01574803149607}}" id="136" name="Google Shape;136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83200" y="2044501"/>
            <a:ext cx="2164319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backgroundColor&quot;:&quot;#FFFFFF&quot;,&quot;id&quot;:&quot;1&quot;,&quot;font&quot;:{&quot;color&quot;:&quot;#000000&quot;,&quot;family&quot;:&quot;Arial&quot;,&quot;size&quot;:27},&quot;code&quot;:&quot;$$=f\\left(X,g\\left(x\\right)\\right)$$&quot;,&quot;backgroundColorModified&quot;:false,&quot;type&quot;:&quot;$$&quot;,&quot;ts&quot;:1759733425485,&quot;cs&quot;:&quot;qGi73zVlURvv7b5M08uYhg==&quot;,&quot;size&quot;:{&quot;width&quot;:240.40000000000006,&quot;height&quot;:42.399999999999984}}" id="137" name="Google Shape;137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83463" y="2052742"/>
            <a:ext cx="2289810" cy="40386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2"/>
          <p:cNvSpPr/>
          <p:nvPr/>
        </p:nvSpPr>
        <p:spPr>
          <a:xfrm>
            <a:off x="3236675" y="1295275"/>
            <a:ext cx="646800" cy="323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6351900" y="2036850"/>
            <a:ext cx="2792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a closed-loop eq</a:t>
            </a:r>
            <a:endParaRPr sz="15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356850" y="354875"/>
            <a:ext cx="8430300" cy="6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Linear vs Nonlinear Systems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5" name="Google Shape;145;p23"/>
          <p:cNvGraphicFramePr/>
          <p:nvPr/>
        </p:nvGraphicFramePr>
        <p:xfrm>
          <a:off x="482900" y="1364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{6EDF6D20-C667-4EFB-8307-5F6CC2E36B87}</a:tableStyleId>
              </a:tblPr>
              <a:tblGrid>
                <a:gridCol w="3944750"/>
                <a:gridCol w="3944750"/>
              </a:tblGrid>
              <a:tr h="203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Linear</a:t>
                      </a:r>
                      <a:r>
                        <a:rPr lang="en" sz="18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Systems   </a:t>
                      </a:r>
                      <a:endParaRPr sz="1800">
                        <a:solidFill>
                          <a:srgbClr val="C5C8C6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Nonlinear Systems   </a:t>
                      </a:r>
                      <a:endParaRPr b="1" sz="1600">
                        <a:solidFill>
                          <a:srgbClr val="33333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525925">
                <a:tc>
                  <a:txBody>
                    <a:bodyPr/>
                    <a:lstStyle/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Times New Roman"/>
                        <a:buAutoNum type="arabicPeriod"/>
                      </a:pPr>
                      <a: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equilibrium point  </a:t>
                      </a:r>
                      <a:b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Times New Roman"/>
                        <a:buAutoNum type="arabicPeriod"/>
                      </a:pPr>
                      <a: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Predictable behavior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Times New Roman"/>
                        <a:buAutoNum type="arabicPeriod"/>
                      </a:pPr>
                      <a: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Multiple equilibrium points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Times New Roman"/>
                        <a:buAutoNum type="arabicPeriod"/>
                      </a:pPr>
                      <a: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Chaos                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Times New Roman"/>
                        <a:buAutoNum type="arabicPeriod"/>
                      </a:pPr>
                      <a: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Bifurcations 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6" name="Google Shape;146;p23"/>
          <p:cNvSpPr txBox="1"/>
          <p:nvPr/>
        </p:nvSpPr>
        <p:spPr>
          <a:xfrm>
            <a:off x="1248875" y="4499025"/>
            <a:ext cx="573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https://www.youtube.com/watch?v=wOQDGvCLOs8</a:t>
            </a:r>
            <a:endParaRPr sz="1000">
              <a:solidFill>
                <a:srgbClr val="4A86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23"/>
          <p:cNvSpPr txBox="1"/>
          <p:nvPr/>
        </p:nvSpPr>
        <p:spPr>
          <a:xfrm>
            <a:off x="482900" y="3596075"/>
            <a:ext cx="510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Note: linearization gives only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local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info at each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ẋ</a:t>
            </a:r>
            <a:endParaRPr b="1"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>
            <p:ph type="title"/>
          </p:nvPr>
        </p:nvSpPr>
        <p:spPr>
          <a:xfrm>
            <a:off x="338975" y="320475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Methods to Analyze Nonlinear Systems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24"/>
          <p:cNvSpPr txBox="1"/>
          <p:nvPr/>
        </p:nvSpPr>
        <p:spPr>
          <a:xfrm>
            <a:off x="338975" y="1036875"/>
            <a:ext cx="5478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Plotting Phase 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portraits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24"/>
          <p:cNvSpPr txBox="1"/>
          <p:nvPr/>
        </p:nvSpPr>
        <p:spPr>
          <a:xfrm>
            <a:off x="338975" y="2072000"/>
            <a:ext cx="4292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This is helpful to visualize the system behavior in state space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24"/>
          <p:cNvSpPr txBox="1"/>
          <p:nvPr/>
        </p:nvSpPr>
        <p:spPr>
          <a:xfrm>
            <a:off x="476075" y="3254650"/>
            <a:ext cx="51933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Limitation: Can be 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used at most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for 2nd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-order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differential equations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6" name="Google Shape;15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1075" y="915575"/>
            <a:ext cx="2626819" cy="380182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4"/>
          <p:cNvSpPr txBox="1"/>
          <p:nvPr/>
        </p:nvSpPr>
        <p:spPr>
          <a:xfrm>
            <a:off x="5606075" y="4717400"/>
            <a:ext cx="339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https://ars.els-cdn.com/content/image/3-s2.0-B9780080924458500092-f05-11-9780080924458.jpg</a:t>
            </a:r>
            <a:endParaRPr sz="6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>
            <p:ph type="title"/>
          </p:nvPr>
        </p:nvSpPr>
        <p:spPr>
          <a:xfrm>
            <a:off x="338975" y="320475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Linear 2nd-Order System → State Form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25"/>
          <p:cNvSpPr txBox="1"/>
          <p:nvPr/>
        </p:nvSpPr>
        <p:spPr>
          <a:xfrm>
            <a:off x="338975" y="1036875"/>
            <a:ext cx="388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General Linear System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type&quot;:&quot;$$&quot;,&quot;aid&quot;:null,&quot;backgroundColor&quot;:&quot;#FFFFFF&quot;,&quot;code&quot;:&quot;$$\\ddot{y}\\,+\\,2\\,\\varepsilon\\,w\\,_{n}\\,\\dot{y}\\,+\\,w_{n}^{2}\\,=\\,0$$&quot;,&quot;id&quot;:&quot;3&quot;,&quot;backgroundColorModified&quot;:false,&quot;font&quot;:{&quot;size&quot;:23,&quot;color&quot;:&quot;#000000&quot;,&quot;family&quot;:&quot;Arial&quot;},&quot;ts&quot;:1759735711114,&quot;cs&quot;:&quot;CFMRc4qj+IUPlUuhz90hBw==&quot;,&quot;size&quot;:{&quot;width&quot;:370,&quot;height&quot;:41}}" id="164" name="Google Shape;16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5620" y="1066113"/>
            <a:ext cx="35242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type&quot;:&quot;$$&quot;,&quot;id&quot;:&quot;4&quot;,&quot;backgroundColor&quot;:&quot;#FFFFFF&quot;,&quot;backgroundColorModified&quot;:false,&quot;font&quot;:{&quot;family&quot;:&quot;Arial&quot;,&quot;color&quot;:&quot;#000000&quot;,&quot;size&quot;:23},&quot;code&quot;:&quot;$$X_{1}\\,=\\,y$$&quot;,&quot;ts&quot;:1759734619041,&quot;cs&quot;:&quot;R9xQxaWOeZECvUfvojIq3g==&quot;,&quot;size&quot;:{&quot;width&quot;:122.33333333333333,&quot;height&quot;:32}}" id="165" name="Google Shape;16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3925" y="1865950"/>
            <a:ext cx="116522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4&quot;,&quot;code&quot;:&quot;$$X_{2}\\,=\\,\\dot{y}$$&quot;,&quot;type&quot;:&quot;$$&quot;,&quot;font&quot;:{&quot;family&quot;:&quot;Arial&quot;,&quot;size&quot;:23,&quot;color&quot;:&quot;#000000&quot;},&quot;backgroundColorModified&quot;:false,&quot;aid&quot;:null,&quot;backgroundColor&quot;:&quot;#FFFFFF&quot;,&quot;ts&quot;:1759734655888,&quot;cs&quot;:&quot;NoMjxTaJgw9sckTR4yLryQ==&quot;,&quot;size&quot;:{&quot;width&quot;:122.33333333333333,&quot;height&quot;:32}}" id="166" name="Google Shape;16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95138" y="1951425"/>
            <a:ext cx="116522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id&quot;:&quot;5&quot;,&quot;type&quot;:&quot;$$&quot;,&quot;font&quot;:{&quot;family&quot;:&quot;Arial&quot;,&quot;color&quot;:&quot;#000000&quot;,&quot;size&quot;:23},&quot;backgroundColor&quot;:&quot;#FFFFFF&quot;,&quot;code&quot;:&quot;$$X\\,=\\,\\begin{bmatrix}\n{X_{1}}\\\\\n{X_{2}}\\\\\n\\end{bmatrix}$$&quot;,&quot;backgroundColorModified&quot;:false,&quot;ts&quot;:1759734697360,&quot;cs&quot;:&quot;cl6bajVshmTfqM1+2zyOPg==&quot;,&quot;size&quot;:{&quot;width&quot;:164.33333333333334,&quot;height&quot;:86.33333333333333}}" id="167" name="Google Shape;167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97025" y="2672888"/>
            <a:ext cx="1565275" cy="822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size&quot;:23,&quot;family&quot;:&quot;Arial&quot;,&quot;color&quot;:&quot;#000000&quot;},&quot;type&quot;:&quot;$$&quot;,&quot;id&quot;:&quot;6&quot;,&quot;code&quot;:&quot;$$\\dot{X}_{1}\\,=\\,X_{2}$$&quot;,&quot;backgroundColorModified&quot;:false,&quot;aid&quot;:null,&quot;backgroundColor&quot;:&quot;#FFFFFF&quot;,&quot;ts&quot;:1759734756397,&quot;cs&quot;:&quot;DdTAvuoYWRb4r10WOtE7JA==&quot;,&quot;size&quot;:{&quot;width&quot;:147.16666666666666,&quot;height&quot;:38.166666666666664}}" id="168" name="Google Shape;168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94238" y="2902288"/>
            <a:ext cx="1401763" cy="3635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type&quot;:&quot;$$&quot;,&quot;code&quot;:&quot;$$\\dot{X_{2}}\\,=\\,-2\\varepsilon w_{n}\\,X_{2}\\,-\\,w_{n}^{2}\\,X_{1}\\,=\\,f\\left(x_{1},\\,x_{2}\\right)$$&quot;,&quot;backgroundColor&quot;:&quot;#FFFFFF&quot;,&quot;font&quot;:{&quot;family&quot;:&quot;Arial&quot;,&quot;color&quot;:&quot;#000000&quot;,&quot;size&quot;:23},&quot;id&quot;:&quot;7&quot;,&quot;aid&quot;:null,&quot;ts&quot;:1759734894673,&quot;cs&quot;:&quot;WpyEk06nDcuuVtKyeYZM1w==&quot;,&quot;size&quot;:{&quot;width&quot;:619.5,&quot;height&quot;:42}}" id="169" name="Google Shape;169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9125" y="3997351"/>
            <a:ext cx="5900738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>
            <p:ph type="title"/>
          </p:nvPr>
        </p:nvSpPr>
        <p:spPr>
          <a:xfrm>
            <a:off x="338975" y="320475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Matrix Form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code&quot;:&quot;$$\\dot{X}\\,=\\,AX$$&quot;,&quot;id&quot;:&quot;2&quot;,&quot;backgroundColor&quot;:&quot;#FFFFFF&quot;,&quot;aid&quot;:null,&quot;font&quot;:{&quot;size&quot;:23,&quot;color&quot;:&quot;#000000&quot;,&quot;family&quot;:&quot;Arial&quot;},&quot;backgroundColorModified&quot;:false,&quot;type&quot;:&quot;$$&quot;,&quot;ts&quot;:1759734402926,&quot;cs&quot;:&quot;uAsuUVgV0ylbU54DDoyPow==&quot;,&quot;size&quot;:{&quot;width&quot;:147.5,&quot;height&quot;:32.833333333333336}}" id="175" name="Google Shape;17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225" y="1313488"/>
            <a:ext cx="1404938" cy="3127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8&quot;,&quot;backgroundColor&quot;:&quot;#FFFFFF&quot;,&quot;font&quot;:{&quot;color&quot;:&quot;#000000&quot;,&quot;size&quot;:23,&quot;family&quot;:&quot;Arial&quot;},&quot;type&quot;:&quot;$$&quot;,&quot;aid&quot;:null,&quot;code&quot;:&quot;$$x^{\\star}\\,=\\,0$$&quot;,&quot;backgroundColorModified&quot;:false,&quot;ts&quot;:1759735144509,&quot;cs&quot;:&quot;bhrR52mS6SqagjKnE/Ptew==&quot;,&quot;size&quot;:{&quot;width&quot;:111.83333333333333,&quot;height&quot;:28.166666666666668}}" id="176" name="Google Shape;17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5316" y="3636350"/>
            <a:ext cx="1065213" cy="268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backgroundColorModified&quot;:false,&quot;font&quot;:{&quot;color&quot;:&quot;#000000&quot;,&quot;family&quot;:&quot;Arial&quot;,&quot;size&quot;:23},&quot;type&quot;:&quot;$$&quot;,&quot;backgroundColor&quot;:&quot;#FFFFFF&quot;,&quot;id&quot;:&quot;9&quot;,&quot;code&quot;:&quot;$$\\dot{x}\\,=\\,0\\,\\hookrightarrow\\,x^{\\star}$$&quot;,&quot;ts&quot;:1759735200753,&quot;cs&quot;:&quot;wY2zmJQ81TZsiRWEHyJtyA==&quot;,&quot;size&quot;:{&quot;width&quot;:204.33333333333334,&quot;height&quot;:28.166666666666668}}" id="177" name="Google Shape;177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98863" y="3636350"/>
            <a:ext cx="1946275" cy="268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type&quot;:&quot;$$&quot;,&quot;id&quot;:&quot;10&quot;,&quot;backgroundColorModified&quot;:false,&quot;font&quot;:{&quot;color&quot;:&quot;#000000&quot;,&quot;size&quot;:23,&quot;family&quot;:&quot;Arial&quot;},&quot;code&quot;:&quot;$$A\\,=\\,\\,\\begin{bmatrix}\n{0}&amp;{1}\\\\\n{-w_{n}^{2}}&amp;{-2\\varepsilon w_{n}}\\\\\n\\end{bmatrix}$$&quot;,&quot;aid&quot;:null,&quot;ts&quot;:1759735832414,&quot;cs&quot;:&quot;0oHGh1ef2cc4+B55TkSvMg==&quot;,&quot;size&quot;:{&quot;width&quot;:335.75,&quot;height&quot;:88.25}}" id="178" name="Google Shape;178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10175" y="2151463"/>
            <a:ext cx="3198019" cy="84058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6"/>
          <p:cNvSpPr txBox="1"/>
          <p:nvPr/>
        </p:nvSpPr>
        <p:spPr>
          <a:xfrm>
            <a:off x="6016475" y="3476200"/>
            <a:ext cx="3145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the only equilibrium point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>
            <p:ph type="title"/>
          </p:nvPr>
        </p:nvSpPr>
        <p:spPr>
          <a:xfrm>
            <a:off x="338975" y="320475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System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backgroundColor&quot;:&quot;#FFFFFF&quot;,&quot;backgroundColorModified&quot;:false,&quot;aid&quot;:null,&quot;id&quot;:&quot;2&quot;,&quot;code&quot;:&quot;$\\Re\\left\\{\\lambda_{1}\\,,\\,\\lambda_{2}\\right\\}\\,&lt;\\,0$&quot;,&quot;type&quot;:&quot;$&quot;,&quot;font&quot;:{&quot;size&quot;:23,&quot;family&quot;:&quot;Arial&quot;,&quot;color&quot;:&quot;#000000&quot;},&quot;ts&quot;:1759737165229,&quot;cs&quot;:&quot;Y0pgcUA9An0cE07aDP1thw==&quot;,&quot;size&quot;:{&quot;width&quot;:248.79999999999998,&quot;height&quot;:36.20000000000001}}" id="185" name="Google Shape;18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1625" y="1392698"/>
            <a:ext cx="2369820" cy="3448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backgroundColorModified&quot;:false,&quot;type&quot;:&quot;$$&quot;,&quot;code&quot;:&quot;$$Im\\left\\{\\lambda_{1}\\,,\\,\\lambda_{2}\\right\\}\\,=\\,0$$&quot;,&quot;aid&quot;:null,&quot;id&quot;:&quot;11&quot;,&quot;font&quot;:{&quot;size&quot;:23,&quot;family&quot;:&quot;Arial&quot;,&quot;color&quot;:&quot;#000000&quot;},&quot;ts&quot;:1759737203905,&quot;cs&quot;:&quot;GR3qPmK9vzIH7KnjkPCEOA==&quot;,&quot;size&quot;:{&quot;width&quot;:268.79999999999995,&quot;height&quot;:36.199999999999996}}" id="186" name="Google Shape;18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6375" y="2093325"/>
            <a:ext cx="2560320" cy="34480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7"/>
          <p:cNvSpPr txBox="1"/>
          <p:nvPr/>
        </p:nvSpPr>
        <p:spPr>
          <a:xfrm>
            <a:off x="4247425" y="2793950"/>
            <a:ext cx="388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Stable Equilibrium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8" name="Google Shape;188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3050" y="1036875"/>
            <a:ext cx="3321889" cy="323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/>
          <p:nvPr>
            <p:ph type="title"/>
          </p:nvPr>
        </p:nvSpPr>
        <p:spPr>
          <a:xfrm>
            <a:off x="338975" y="320475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System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id&quot;:&quot;11&quot;,&quot;backgroundColor&quot;:&quot;#FFFFFF&quot;,&quot;code&quot;:&quot;$$Im\\left\\{\\lambda_{1}\\,,\\,\\lambda_{2}\\right\\}\\neq\\,0$$&quot;,&quot;type&quot;:&quot;$$&quot;,&quot;backgroundColorModified&quot;:false,&quot;font&quot;:{&quot;size&quot;:23,&quot;family&quot;:&quot;Arial&quot;,&quot;color&quot;:&quot;#000000&quot;},&quot;aid&quot;:null,&quot;ts&quot;:1759774790036,&quot;cs&quot;:&quot;Szi8OyanTKinu45an8Jzeg==&quot;,&quot;size&quot;:{&quot;width&quot;:262.79999999999995,&quot;height&quot;:36.20000000000003}}" id="194" name="Google Shape;19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4350" y="3245600"/>
            <a:ext cx="2503170" cy="3448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\\Re\\left\\{\\lambda_{1}\\,,\\,\\lambda_{2}\\right\\}\\,&lt;\\,0$&quot;,&quot;backgroundColorModified&quot;:false,&quot;id&quot;:&quot;58&quot;,&quot;font&quot;:{&quot;size&quot;:23,&quot;color&quot;:&quot;#000000&quot;,&quot;family&quot;:&quot;Arial&quot;},&quot;aid&quot;:null,&quot;backgroundColor&quot;:&quot;#FFFFFF&quot;,&quot;type&quot;:&quot;$&quot;,&quot;ts&quot;:1759774759194,&quot;cs&quot;:&quot;fJaXfHPg66osFuW6pYRngQ==&quot;,&quot;size&quot;:{&quot;width&quot;:248.79999999999995,&quot;height&quot;:36.199999999999996}}" id="195" name="Google Shape;19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1025" y="2740200"/>
            <a:ext cx="2369820" cy="344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1475" y="1222975"/>
            <a:ext cx="3845725" cy="3137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 txBox="1"/>
          <p:nvPr>
            <p:ph type="title"/>
          </p:nvPr>
        </p:nvSpPr>
        <p:spPr>
          <a:xfrm>
            <a:off x="338975" y="320475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System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backgroundColor&quot;:&quot;#FFFFFF&quot;,&quot;backgroundColorModified&quot;:false,&quot;aid&quot;:null,&quot;id&quot;:&quot;2&quot;,&quot;code&quot;:&quot;$\\Re\\left\\{\\lambda_{1}\\,,\\,\\lambda_{2}\\right\\}\\,&lt;\\,0$&quot;,&quot;type&quot;:&quot;$&quot;,&quot;font&quot;:{&quot;size&quot;:23,&quot;family&quot;:&quot;Arial&quot;,&quot;color&quot;:&quot;#000000&quot;},&quot;ts&quot;:1759737165229,&quot;cs&quot;:&quot;Y0pgcUA9An0cE07aDP1thw==&quot;,&quot;size&quot;:{&quot;width&quot;:248.79999999999998,&quot;height&quot;:36.20000000000001}}" id="202" name="Google Shape;20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5800" y="2674873"/>
            <a:ext cx="2369820" cy="3448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type&quot;:&quot;$$&quot;,&quot;backgroundColorModified&quot;:false,&quot;backgroundColor&quot;:&quot;#FFFFFF&quot;,&quot;code&quot;:&quot;$$Im\\left\\{\\lambda_{1}\\,,\\,\\lambda_{2}\\right\\}=\\,0$$&quot;,&quot;id&quot;:&quot;11&quot;,&quot;font&quot;:{&quot;family&quot;:&quot;Arial&quot;,&quot;color&quot;:&quot;#000000&quot;,&quot;size&quot;:23},&quot;ts&quot;:1759774919081,&quot;cs&quot;:&quot;8Lbl3cRq7vVbFp6RqUYa+w==&quot;,&quot;size&quot;:{&quot;width&quot;:262.79999999999995,&quot;height&quot;:36.20000000000003}}" id="203" name="Google Shape;20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0100" y="3172325"/>
            <a:ext cx="2503170" cy="34480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9"/>
          <p:cNvSpPr txBox="1"/>
          <p:nvPr/>
        </p:nvSpPr>
        <p:spPr>
          <a:xfrm>
            <a:off x="4658475" y="3669775"/>
            <a:ext cx="3881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Directions are coming from the stability of the system</a:t>
            </a:r>
            <a:endParaRPr sz="16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29"/>
          <p:cNvSpPr txBox="1"/>
          <p:nvPr/>
        </p:nvSpPr>
        <p:spPr>
          <a:xfrm>
            <a:off x="4800013" y="1237625"/>
            <a:ext cx="388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Unstable</a:t>
            </a:r>
            <a:r>
              <a:rPr lang="en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equilibrium.</a:t>
            </a:r>
            <a:br>
              <a:rPr lang="en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only </a:t>
            </a:r>
            <a:r>
              <a:rPr lang="en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stable at a point; even for a slight movement, it will become unstable</a:t>
            </a:r>
            <a:endParaRPr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6" name="Google Shape;20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5925" y="1237625"/>
            <a:ext cx="3507375" cy="2905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9"/>
          <p:cNvSpPr txBox="1"/>
          <p:nvPr/>
        </p:nvSpPr>
        <p:spPr>
          <a:xfrm>
            <a:off x="7251225" y="2336350"/>
            <a:ext cx="393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b="1" sz="45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0"/>
          <p:cNvSpPr txBox="1"/>
          <p:nvPr>
            <p:ph type="title"/>
          </p:nvPr>
        </p:nvSpPr>
        <p:spPr>
          <a:xfrm>
            <a:off x="338975" y="320475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System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type&quot;:&quot;$&quot;,&quot;backgroundColorModified&quot;:false,&quot;font&quot;:{&quot;family&quot;:&quot;Arial&quot;,&quot;size&quot;:23,&quot;color&quot;:&quot;#000000&quot;},&quot;code&quot;:&quot;$\\Re\\left\\{\\lambda_{1}\\,,\\,\\lambda_{2}\\right\\}\\,&gt;\\,0$&quot;,&quot;id&quot;:&quot;2&quot;,&quot;aid&quot;:null,&quot;backgroundColor&quot;:&quot;#FFFFFF&quot;,&quot;ts&quot;:1759737748452,&quot;cs&quot;:&quot;dSY7FwVN9SVIef+jXc58rA==&quot;,&quot;size&quot;:{&quot;width&quot;:248.79999999999995,&quot;height&quot;:36.199999999999996}}" id="213" name="Google Shape;21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1500" y="2571748"/>
            <a:ext cx="2369820" cy="3448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family&quot;:&quot;Arial&quot;,&quot;color&quot;:&quot;#000000&quot;,&quot;size&quot;:23},&quot;code&quot;:&quot;$$Im\\left\\{\\lambda_{1}\\,,\\,\\lambda_{2}\\right\\}=\\,0$$&quot;,&quot;backgroundColor&quot;:&quot;#FFFFFF&quot;,&quot;id&quot;:&quot;11&quot;,&quot;aid&quot;:null,&quot;backgroundColorModified&quot;:false,&quot;type&quot;:&quot;$$&quot;,&quot;ts&quot;:1759737342279,&quot;cs&quot;:&quot;yFvVwl+VWS0A5ued7BMYsg==&quot;,&quot;size&quot;:{&quot;width&quot;:262.79999999999995,&quot;height&quot;:36.199999999999996}}" id="214" name="Google Shape;21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0050" y="3149775"/>
            <a:ext cx="2503170" cy="34480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0"/>
          <p:cNvSpPr txBox="1"/>
          <p:nvPr/>
        </p:nvSpPr>
        <p:spPr>
          <a:xfrm>
            <a:off x="4685425" y="3494575"/>
            <a:ext cx="388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system with unstable equilibrium</a:t>
            </a:r>
            <a:endParaRPr sz="16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6" name="Google Shape;216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8400" y="1175800"/>
            <a:ext cx="3058350" cy="300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 txBox="1"/>
          <p:nvPr>
            <p:ph type="title"/>
          </p:nvPr>
        </p:nvSpPr>
        <p:spPr>
          <a:xfrm>
            <a:off x="338975" y="320475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System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type&quot;:&quot;$&quot;,&quot;backgroundColor&quot;:&quot;#FFFFFF&quot;,&quot;font&quot;:{&quot;size&quot;:23,&quot;family&quot;:&quot;Arial&quot;,&quot;color&quot;:&quot;#000000&quot;},&quot;backgroundColorModified&quot;:false,&quot;id&quot;:&quot;12&quot;,&quot;code&quot;:&quot;$\\Re\\left\\{\\lambda_{1}\\right\\}\\,&lt;\\,0$&quot;,&quot;aid&quot;:null,&quot;ts&quot;:1759737982996,&quot;cs&quot;:&quot;3+kZhuVkqaFfLWWQjKlY+w==&quot;,&quot;size&quot;:{&quot;width&quot;:184.16666666666666,&quot;height&quot;:36.166666666666664}}" id="222" name="Google Shape;22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425" y="1632063"/>
            <a:ext cx="1754188" cy="3444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aid&quot;:null,&quot;font&quot;:{&quot;size&quot;:23,&quot;color&quot;:&quot;#000000&quot;,&quot;family&quot;:&quot;Arial&quot;},&quot;code&quot;:&quot;$$\\Re\\left\\{\\lambda_{2}\\right\\}\\,&gt;0$$&quot;,&quot;type&quot;:&quot;$$&quot;,&quot;backgroundColor&quot;:&quot;#FFFFFF&quot;,&quot;id&quot;:&quot;13&quot;,&quot;ts&quot;:1759738003688,&quot;cs&quot;:&quot;MJK/go+SacL7UWtSVfsAPA==&quot;,&quot;size&quot;:{&quot;width&quot;:178.16666666666666,&quot;height&quot;:36.166666666666664}}" id="223" name="Google Shape;22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5425" y="2133750"/>
            <a:ext cx="1697038" cy="344488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1"/>
          <p:cNvSpPr txBox="1"/>
          <p:nvPr/>
        </p:nvSpPr>
        <p:spPr>
          <a:xfrm>
            <a:off x="4448675" y="2895250"/>
            <a:ext cx="193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Saddle Point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5" name="Google Shape;225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2975" y="1189275"/>
            <a:ext cx="3192750" cy="285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338975" y="320475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System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backgroundColor&quot;:&quot;#FFFFFF&quot;,&quot;font&quot;:{&quot;color&quot;:&quot;#000000&quot;,&quot;family&quot;:&quot;Arial&quot;,&quot;size&quot;:23},&quot;backgroundColorModified&quot;:false,&quot;code&quot;:&quot;$\\Re\\left\\{\\lambda_{1}\\,,\\,\\lambda_{2}\\right\\}\\,=\\,0$&quot;,&quot;aid&quot;:null,&quot;id&quot;:&quot;2&quot;,&quot;type&quot;:&quot;$&quot;,&quot;ts&quot;:1759738129666,&quot;cs&quot;:&quot;Mhu/7zOTO7N4RU5xVjxfZA==&quot;,&quot;size&quot;:{&quot;width&quot;:248.79999999999995,&quot;height&quot;:36.199999999999996}}" id="231" name="Google Shape;23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1500" y="2571748"/>
            <a:ext cx="2369820" cy="3448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id&quot;:&quot;11&quot;,&quot;font&quot;:{&quot;family&quot;:&quot;Arial&quot;,&quot;size&quot;:23,&quot;color&quot;:&quot;#000000&quot;},&quot;aid&quot;:null,&quot;type&quot;:&quot;$$&quot;,&quot;code&quot;:&quot;$$Im\\left\\{\\lambda_{1}\\,,\\,\\lambda_{2}\\right\\}\\neq\\,0$$&quot;,&quot;backgroundColorModified&quot;:false,&quot;ts&quot;:1759738142947,&quot;cs&quot;:&quot;9huMr5rtV3fvkn34wo1K0Q==&quot;,&quot;size&quot;:{&quot;width&quot;:262.79999999999995,&quot;height&quot;:36.20000000000003}}" id="232" name="Google Shape;23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0050" y="3149775"/>
            <a:ext cx="2503170" cy="34480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2"/>
          <p:cNvSpPr txBox="1"/>
          <p:nvPr/>
        </p:nvSpPr>
        <p:spPr>
          <a:xfrm>
            <a:off x="4572000" y="1473075"/>
            <a:ext cx="3881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behaviour can be found in a spring and damper system with no damping so the system keeps oscillating</a:t>
            </a:r>
            <a:endParaRPr sz="16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4" name="Google Shape;23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5400" y="1189275"/>
            <a:ext cx="2954425" cy="292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3"/>
          <p:cNvSpPr txBox="1"/>
          <p:nvPr>
            <p:ph type="title"/>
          </p:nvPr>
        </p:nvSpPr>
        <p:spPr>
          <a:xfrm>
            <a:off x="338975" y="320475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Nonl</a:t>
            </a:r>
            <a:r>
              <a:rPr lang="en" sz="2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inear System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code&quot;:&quot;$\\ddot{x}\\,+\\,\\alpha \\dot{x}+x^{3}\\,=\\,0$&quot;,&quot;backgroundColor&quot;:&quot;#FFFFFF&quot;,&quot;id&quot;:&quot;2&quot;,&quot;type&quot;:&quot;$&quot;,&quot;backgroundColorModified&quot;:false,&quot;aid&quot;:null,&quot;font&quot;:{&quot;size&quot;:23,&quot;family&quot;:&quot;Arial&quot;,&quot;color&quot;:&quot;#000000&quot;},&quot;ts&quot;:1759739708886,&quot;cs&quot;:&quot;rO3DYFj56Fa7asYYP8ALeg==&quot;,&quot;size&quot;:{&quot;width&quot;:275.75,&quot;height&quot;:33.25}}" id="240" name="Google Shape;24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0075" y="2604317"/>
            <a:ext cx="2626519" cy="316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7900" y="1330775"/>
            <a:ext cx="2936925" cy="272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4"/>
          <p:cNvSpPr txBox="1"/>
          <p:nvPr>
            <p:ph type="title"/>
          </p:nvPr>
        </p:nvSpPr>
        <p:spPr>
          <a:xfrm>
            <a:off x="338975" y="320475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Nonlinear System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type&quot;:&quot;$&quot;,&quot;aid&quot;:null,&quot;code&quot;:&quot;$\\ddot{\\theta}\\,=\\,K\\,\\sign\\left(-\\theta\\right)$&quot;,&quot;font&quot;:{&quot;size&quot;:23,&quot;family&quot;:&quot;Arial&quot;,&quot;color&quot;:&quot;#000000&quot;},&quot;backgroundColor&quot;:&quot;#FFFFFF&quot;,&quot;id&quot;:&quot;2&quot;,&quot;backgroundColorModified&quot;:false,&quot;ts&quot;:1759739890012,&quot;cs&quot;:&quot;75clrBev2b4RcIBTBNihpA==&quot;,&quot;size&quot;:{&quot;width&quot;:251.40000000000006,&quot;height&quot;:42.399999999999984}}" id="247" name="Google Shape;24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4420" y="2604317"/>
            <a:ext cx="2394585" cy="40386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4"/>
          <p:cNvSpPr txBox="1"/>
          <p:nvPr/>
        </p:nvSpPr>
        <p:spPr>
          <a:xfrm>
            <a:off x="4739325" y="988300"/>
            <a:ext cx="388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Switching Model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34"/>
          <p:cNvSpPr txBox="1"/>
          <p:nvPr/>
        </p:nvSpPr>
        <p:spPr>
          <a:xfrm>
            <a:off x="4855200" y="1625875"/>
            <a:ext cx="388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 in space -  satellite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0" name="Google Shape;25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475" y="1297075"/>
            <a:ext cx="3522275" cy="275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"/>
          <p:cNvSpPr txBox="1"/>
          <p:nvPr>
            <p:ph type="title"/>
          </p:nvPr>
        </p:nvSpPr>
        <p:spPr>
          <a:xfrm>
            <a:off x="338975" y="320475"/>
            <a:ext cx="8430300" cy="4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Lyapunov Stability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code&quot;:&quot;$\\forall R\\,&gt;\\,0\\,\\exists\\,r\\,&gt;\\,0\\,:\\,\\left|\\right|x\\left(0\\right)\\left|\\right|\\,&lt;\\,r\\Rightarrow\\left|\\left|x\\left(t\\right)\\right|\\right|&lt;\\,R$&quot;,&quot;font&quot;:{&quot;color&quot;:&quot;#000000&quot;,&quot;size&quot;:23,&quot;family&quot;:&quot;Arial&quot;},&quot;id&quot;:&quot;2&quot;,&quot;type&quot;:&quot;$&quot;,&quot;aid&quot;:null,&quot;backgroundColor&quot;:&quot;#FFFFFF&quot;,&quot;backgroundColorModified&quot;:false,&quot;ts&quot;:1759740393646,&quot;cs&quot;:&quot;oLyuLbtfbkGeQnRNW+ROyQ==&quot;,&quot;size&quot;:{&quot;width&quot;:733,&quot;height&quot;:36}}" id="256" name="Google Shape;25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1082" y="1064406"/>
            <a:ext cx="69818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0300" y="1526026"/>
            <a:ext cx="2548202" cy="2716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font&quot;:{&quot;family&quot;:&quot;Arial&quot;,&quot;color&quot;:&quot;#000000&quot;,&quot;size&quot;:23},&quot;backgroundColorModified&quot;:false,&quot;code&quot;:&quot;$$x\\left(t\\right)\\,\\hookrightarrow\\,0\\,\\,\\,\\,as\\,\\,\\,\\,t\\hookrightarrow\\,\\infty$$&quot;,&quot;id&quot;:&quot;14&quot;,&quot;type&quot;:&quot;$$&quot;,&quot;backgroundColor&quot;:&quot;#FFFFFF&quot;,&quot;ts&quot;:1759740452931,&quot;cs&quot;:&quot;PgmDw9EvJTEMfposwBnC9w==&quot;,&quot;size&quot;:{&quot;width&quot;:354.3333333333333,&quot;height&quot;:36.333333333333336}}" id="258" name="Google Shape;258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8963" y="1870463"/>
            <a:ext cx="3375025" cy="346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5"/>
          <p:cNvSpPr txBox="1"/>
          <p:nvPr/>
        </p:nvSpPr>
        <p:spPr>
          <a:xfrm>
            <a:off x="872300" y="3245700"/>
            <a:ext cx="3822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Asymptotically stable is </a:t>
            </a: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stronger than lyapunov stability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35"/>
          <p:cNvSpPr txBox="1"/>
          <p:nvPr/>
        </p:nvSpPr>
        <p:spPr>
          <a:xfrm>
            <a:off x="2139200" y="2340900"/>
            <a:ext cx="236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Asymptotically stable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6"/>
          <p:cNvSpPr txBox="1"/>
          <p:nvPr>
            <p:ph type="title"/>
          </p:nvPr>
        </p:nvSpPr>
        <p:spPr>
          <a:xfrm>
            <a:off x="338975" y="320475"/>
            <a:ext cx="8430300" cy="4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Lyapunov Stability : Conditions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p36"/>
          <p:cNvSpPr txBox="1"/>
          <p:nvPr/>
        </p:nvSpPr>
        <p:spPr>
          <a:xfrm>
            <a:off x="5383625" y="1412750"/>
            <a:ext cx="384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Positive Definite and Non-increasing 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" name="Google Shape;267;p36"/>
          <p:cNvSpPr txBox="1"/>
          <p:nvPr/>
        </p:nvSpPr>
        <p:spPr>
          <a:xfrm>
            <a:off x="554800" y="2154050"/>
            <a:ext cx="80052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20000"/>
              </a:lnSpc>
              <a:spcBef>
                <a:spcPts val="900"/>
              </a:spcBef>
              <a:spcAft>
                <a:spcPts val="150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If the only point where</a:t>
            </a:r>
            <a:r>
              <a:rPr lang="en" sz="1450">
                <a:latin typeface="Times New Roman"/>
                <a:ea typeface="Times New Roman"/>
                <a:cs typeface="Times New Roman"/>
                <a:sym typeface="Times New Roman"/>
              </a:rPr>
              <a:t>                   is </a:t>
            </a:r>
            <a:r>
              <a:rPr i="1" lang="en" sz="1450">
                <a:latin typeface="Times New Roman"/>
                <a:ea typeface="Times New Roman"/>
                <a:cs typeface="Times New Roman"/>
                <a:sym typeface="Times New Roman"/>
              </a:rPr>
              <a:t>x=0 , then </a:t>
            </a:r>
            <a:r>
              <a:rPr lang="en" sz="14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45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4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" sz="145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" sz="1450">
                <a:latin typeface="Times New Roman"/>
                <a:ea typeface="Times New Roman"/>
                <a:cs typeface="Times New Roman"/>
                <a:sym typeface="Times New Roman"/>
              </a:rPr>
              <a:t>)→0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as  </a:t>
            </a:r>
            <a:r>
              <a:rPr lang="en" sz="1450">
                <a:latin typeface="Times New Roman"/>
                <a:ea typeface="Times New Roman"/>
                <a:cs typeface="Times New Roman"/>
                <a:sym typeface="Times New Roman"/>
              </a:rPr>
              <a:t>t→∞ </a:t>
            </a:r>
            <a:r>
              <a:rPr i="1" lang="en" sz="145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" sz="1450">
                <a:latin typeface="Times New Roman"/>
                <a:ea typeface="Times New Roman"/>
                <a:cs typeface="Times New Roman"/>
                <a:sym typeface="Times New Roman"/>
              </a:rPr>
              <a:t>→∞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⇒ </a:t>
            </a:r>
            <a:r>
              <a:rPr i="1" lang="en" sz="1200">
                <a:latin typeface="Roboto"/>
                <a:ea typeface="Roboto"/>
                <a:cs typeface="Roboto"/>
                <a:sym typeface="Roboto"/>
              </a:rPr>
              <a:t>Asymptotic stability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type&quot;:&quot;$$&quot;,&quot;font&quot;:{&quot;size&quot;:18,&quot;family&quot;:&quot;Arial&quot;,&quot;color&quot;:&quot;#000000&quot;},&quot;code&quot;:&quot;$$V\\left(x\\right)\\,&gt;\\,0\\,,\\,V\\left(0\\right)\\,=\\,0\\,and\\,\\dot{V}\\left(x\\right)\\leq0\\,for\\,x\\,\\neq0$$&quot;,&quot;id&quot;:&quot;16&quot;,&quot;aid&quot;:null,&quot;backgroundColor&quot;:&quot;#FFFFFF&quot;,&quot;backgroundColorModified&quot;:false,&quot;ts&quot;:1759741034386,&quot;cs&quot;:&quot;v/Fbd/t+m6kJs+kJsaRqkg==&quot;,&quot;size&quot;:{&quot;width&quot;:563.5,&quot;height&quot;:33}}" id="268" name="Google Shape;26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2700" y="981500"/>
            <a:ext cx="5367338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color&quot;:&quot;#000000&quot;,&quot;size&quot;:14.5,&quot;family&quot;:&quot;Arial&quot;},&quot;code&quot;:&quot;$$\\dot{V}\\left(x\\right)\\,=\\,0$$&quot;,&quot;aid&quot;:null,&quot;backgroundColorModified&quot;:false,&quot;type&quot;:&quot;$$&quot;,&quot;backgroundColor&quot;:&quot;#FFFFFF&quot;,&quot;id&quot;:&quot;17&quot;,&quot;ts&quot;:1759741383447,&quot;cs&quot;:&quot;UAeUy7375Z+D7xxf3N7e7Q==&quot;,&quot;size&quot;:{&quot;width&quot;:99,&quot;height&quot;:26.5}}" id="269" name="Google Shape;26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04350" y="2278750"/>
            <a:ext cx="708649" cy="18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18&quot;,&quot;type&quot;:&quot;$$&quot;,&quot;font&quot;:{&quot;size&quot;:14.5,&quot;family&quot;:&quot;Arial&quot;,&quot;color&quot;:&quot;#000000&quot;},&quot;aid&quot;:null,&quot;backgroundColor&quot;:&quot;#FFFFFF&quot;,&quot;backgroundColorModified&quot;:false,&quot;code&quot;:&quot;$$V\\left(x\\right)\\,\\hookrightarrow\\infty\\,as\\,\\left|\\left|x\\right|\\right|\\hookrightarrow\\infty$$&quot;,&quot;ts&quot;:1759741599292,&quot;cs&quot;:&quot;GFGZZcuJqxLQIt/bllS7sQ==&quot;,&quot;size&quot;:{&quot;width&quot;:247,&quot;height&quot;:22.800000000000008}}" id="270" name="Google Shape;270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10875" y="2931913"/>
            <a:ext cx="2352675" cy="21717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6"/>
          <p:cNvSpPr txBox="1"/>
          <p:nvPr/>
        </p:nvSpPr>
        <p:spPr>
          <a:xfrm>
            <a:off x="953788" y="2809650"/>
            <a:ext cx="197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 Stability: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p36"/>
          <p:cNvSpPr txBox="1"/>
          <p:nvPr/>
        </p:nvSpPr>
        <p:spPr>
          <a:xfrm>
            <a:off x="6886700" y="3848300"/>
            <a:ext cx="193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Equilibrium Point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id&quot;:&quot;15&quot;,&quot;aid&quot;:null,&quot;code&quot;:&quot;$$\\dot{x}\\,=\\,f\\left(x\\right)\\,,\\,x^{\\star}\\,\\Rightarrow\\dot{x}^{\\star}\\,=\\,0$$&quot;,&quot;font&quot;:{&quot;color&quot;:&quot;#000000&quot;,&quot;size&quot;:18,&quot;family&quot;:&quot;Arial&quot;},&quot;backgroundColor&quot;:&quot;#FFFFFF&quot;,&quot;type&quot;:&quot;$$&quot;,&quot;backgroundColorModified&quot;:false,&quot;ts&quot;:1759740787813,&quot;cs&quot;:&quot;6WyVziL3iSiPk5f5fh/e7g==&quot;,&quot;size&quot;:{&quot;width&quot;:307.5,&quot;height&quot;:28.5}}" id="273" name="Google Shape;273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93338" y="3576825"/>
            <a:ext cx="2928938" cy="271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7"/>
          <p:cNvSpPr txBox="1"/>
          <p:nvPr>
            <p:ph type="title"/>
          </p:nvPr>
        </p:nvSpPr>
        <p:spPr>
          <a:xfrm>
            <a:off x="338975" y="320475"/>
            <a:ext cx="8430300" cy="4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Ex: Nonlinear system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type&quot;:&quot;$&quot;,&quot;id&quot;:&quot;14&quot;,&quot;backgroundColorModified&quot;:false,&quot;aid&quot;:null,&quot;font&quot;:{&quot;family&quot;:&quot;Arial&quot;,&quot;color&quot;:&quot;#000000&quot;,&quot;size&quot;:23},&quot;code&quot;:&quot;$\\ddot{X}\\,+\\,\\left|\\,\\dot{X}\\right|\\,\\dot{X}\\,+\\,X^{3}\\,=\\,0$&quot;,&quot;backgroundColor&quot;:&quot;#FFFFFF&quot;,&quot;ts&quot;:1759742937919,&quot;cs&quot;:&quot;NJye+93W7DCbuGzQU2DdrQ==&quot;,&quot;size&quot;:{&quot;width&quot;:364,&quot;height&quot;:54.666666666666664}}" id="279" name="Google Shape;27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5548" y="1213825"/>
            <a:ext cx="3467100" cy="52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7"/>
          <p:cNvSpPr txBox="1"/>
          <p:nvPr/>
        </p:nvSpPr>
        <p:spPr>
          <a:xfrm>
            <a:off x="6200725" y="2441625"/>
            <a:ext cx="179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Lyapunov function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aid&quot;:null,&quot;backgroundColor&quot;:&quot;#FFFFFF&quot;,&quot;code&quot;:&quot;$$X_{1}\\,=\\,X$$&quot;,&quot;backgroundColorModified&quot;:false,&quot;font&quot;:{&quot;size&quot;:23,&quot;family&quot;:&quot;Arial&quot;,&quot;color&quot;:&quot;#000000&quot;},&quot;type&quot;:&quot;$$&quot;,&quot;id&quot;:&quot;19&quot;,&quot;ts&quot;:1759742984086,&quot;cs&quot;:&quot;Owiihr9Tp7TBYIvBSqxxwQ==&quot;,&quot;size&quot;:{&quot;width&quot;:135.33333333333334,&quot;height&quot;:30}}" id="281" name="Google Shape;281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9500" y="1529150"/>
            <a:ext cx="12890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font&quot;:{&quot;color&quot;:&quot;#000000&quot;,&quot;family&quot;:&quot;Arial&quot;,&quot;size&quot;:23},&quot;backgroundColor&quot;:&quot;#FFFFFF&quot;,&quot;code&quot;:&quot;$$X_{2}\\,=\\,\\dot{X}$$&quot;,&quot;id&quot;:&quot;20&quot;,&quot;type&quot;:&quot;$$&quot;,&quot;aid&quot;:null,&quot;ts&quot;:1759743005458,&quot;cs&quot;:&quot;TLNMPe5dzzlbIP+2ISpYDg==&quot;,&quot;size&quot;:{&quot;width&quot;:135.33333333333334,&quot;height&quot;:38.166666666666664}}" id="282" name="Google Shape;282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97825" y="1490250"/>
            <a:ext cx="1289050" cy="3635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size&quot;:23,&quot;family&quot;:&quot;Arial&quot;,&quot;color&quot;:&quot;#000000&quot;},&quot;backgroundColorModified&quot;:false,&quot;aid&quot;:null,&quot;code&quot;:&quot;$$V\\left(x\\right)\\,=\\,\\dfrac{1}{2}\\,\\dot{x}^{2}\\,+\\,\\dfrac{1}{4}\\,x^{4}$$&quot;,&quot;type&quot;:&quot;$$&quot;,&quot;id&quot;:&quot;21&quot;,&quot;backgroundColor&quot;:&quot;#FFFFFF&quot;,&quot;ts&quot;:1759743099491,&quot;cs&quot;:&quot;rDyfJyd0LHMFJtmIcpzHlA==&quot;,&quot;size&quot;:{&quot;width&quot;:346,&quot;height&quot;:73}}" id="283" name="Google Shape;283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54475" y="2224075"/>
            <a:ext cx="3295650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font&quot;:{&quot;size&quot;:18,&quot;color&quot;:&quot;#000000&quot;,&quot;family&quot;:&quot;Arial&quot;},&quot;id&quot;:&quot;22&quot;,&quot;backgroundColor&quot;:&quot;#FFFFFF&quot;,&quot;backgroundColorModified&quot;:false,&quot;code&quot;:&quot;$$\\dot{V}\\left(x\\right)\\,=\\,\\ddot{X}\\,\\dot{X}\\,+\\,\\dot{X}\\,X^{3}\\,=\\,\\dot{X}\\left(\\ddot{X}\\,+\\,X^{3}\\right)$$&quot;,&quot;aid&quot;:null,&quot;ts&quot;:1759743348283,&quot;cs&quot;:&quot;7s5FWuJ/lUpnkMXkoClJAQ==&quot;,&quot;size&quot;:{&quot;width&quot;:482.6666666666667,&quot;height&quot;:50.666666666666664}}" id="284" name="Google Shape;284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8875" y="3872050"/>
            <a:ext cx="4597400" cy="4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7"/>
          <p:cNvSpPr txBox="1"/>
          <p:nvPr/>
        </p:nvSpPr>
        <p:spPr>
          <a:xfrm>
            <a:off x="6491975" y="3294325"/>
            <a:ext cx="179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Derivative Calculation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37"/>
          <p:cNvSpPr txBox="1"/>
          <p:nvPr/>
        </p:nvSpPr>
        <p:spPr>
          <a:xfrm>
            <a:off x="825800" y="1887525"/>
            <a:ext cx="136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Choose: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p37"/>
          <p:cNvSpPr txBox="1"/>
          <p:nvPr/>
        </p:nvSpPr>
        <p:spPr>
          <a:xfrm>
            <a:off x="4911625" y="2349225"/>
            <a:ext cx="128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Since V(0) = 0</a:t>
            </a:r>
            <a:b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&amp; V(x!=0) &gt; 0 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37"/>
          <p:cNvSpPr txBox="1"/>
          <p:nvPr/>
        </p:nvSpPr>
        <p:spPr>
          <a:xfrm>
            <a:off x="837300" y="3248125"/>
            <a:ext cx="453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we analyze for stability: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p37"/>
          <p:cNvSpPr txBox="1"/>
          <p:nvPr/>
        </p:nvSpPr>
        <p:spPr>
          <a:xfrm>
            <a:off x="5663075" y="3743900"/>
            <a:ext cx="3452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=-|x_dot|x_dot^2 &lt;= 0  → Lyponov Stable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8"/>
          <p:cNvSpPr txBox="1"/>
          <p:nvPr>
            <p:ph type="title"/>
          </p:nvPr>
        </p:nvSpPr>
        <p:spPr>
          <a:xfrm>
            <a:off x="338975" y="320475"/>
            <a:ext cx="8430300" cy="4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Lyapunov Stability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p38"/>
          <p:cNvSpPr txBox="1"/>
          <p:nvPr/>
        </p:nvSpPr>
        <p:spPr>
          <a:xfrm>
            <a:off x="893400" y="1197275"/>
            <a:ext cx="6628800" cy="15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Since  V˙≤0, the system is Lyapunov stable; because 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)→∞ as  ∥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∥→∞, it is globally stable.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Stability analysis: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(Semi-negative definite ⇒ Lyapunov stable and globally stable)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9"/>
          <p:cNvSpPr txBox="1"/>
          <p:nvPr>
            <p:ph type="title"/>
          </p:nvPr>
        </p:nvSpPr>
        <p:spPr>
          <a:xfrm>
            <a:off x="338975" y="320475"/>
            <a:ext cx="8430300" cy="4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Linearization of a Nonlinear System for Stability Analysis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39"/>
          <p:cNvSpPr txBox="1"/>
          <p:nvPr/>
        </p:nvSpPr>
        <p:spPr>
          <a:xfrm>
            <a:off x="179125" y="813175"/>
            <a:ext cx="417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Equation of Motion and State Definition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39"/>
          <p:cNvSpPr txBox="1"/>
          <p:nvPr/>
        </p:nvSpPr>
        <p:spPr>
          <a:xfrm>
            <a:off x="338975" y="1363775"/>
            <a:ext cx="417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Nonlinear EoM: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backgroundColor&quot;:&quot;#FFFFFF&quot;,&quot;code&quot;:&quot;$$\\ddot{x}\\,+\\,\\left|\\dot{x}\\right|\\,\\dot{x}\\,+\\,x\\,+\\,x^{3}\\,=\\,0$$&quot;,&quot;font&quot;:{&quot;family&quot;:&quot;Arial&quot;,&quot;color&quot;:&quot;#000000&quot;,&quot;size&quot;:18},&quot;id&quot;:&quot;23&quot;,&quot;backgroundColorModified&quot;:false,&quot;aid&quot;:null,&quot;type&quot;:&quot;$$&quot;,&quot;ts&quot;:1759746745773,&quot;cs&quot;:&quot;YAe/6zJk4Tf3hSrDephakw==&quot;,&quot;size&quot;:{&quot;width&quot;:303.75,&quot;height&quot;:32}}" id="303" name="Google Shape;30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6350" y="2088775"/>
            <a:ext cx="3505472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9"/>
          <p:cNvSpPr txBox="1"/>
          <p:nvPr/>
        </p:nvSpPr>
        <p:spPr>
          <a:xfrm>
            <a:off x="338975" y="266167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State variables: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backgroundColorModified&quot;:false,&quot;aid&quot;:null,&quot;type&quot;:&quot;$$&quot;,&quot;code&quot;:&quot;$$x_{1}\\,=\\,x\\,,\\,x_{2}\\,=\\,\\dot{x}\\,,\\,A\\,=\\,\\pdf{f}{x}$$&quot;,&quot;backgroundColor&quot;:&quot;#FFFFFF&quot;,&quot;font&quot;:{&quot;color&quot;:&quot;#000000&quot;,&quot;size&quot;:21.5,&quot;family&quot;:&quot;Arial&quot;},&quot;id&quot;:&quot;24&quot;,&quot;ts&quot;:1759746858354,&quot;cs&quot;:&quot;ReuHDELzjeaZT8Q9P4Z+fQ==&quot;,&quot;size&quot;:{&quot;width&quot;:409.49073412073494,&quot;height&quot;:72.22045853018368}}" id="305" name="Google Shape;30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40500" y="3280775"/>
            <a:ext cx="3900399" cy="68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9"/>
          <p:cNvSpPr txBox="1"/>
          <p:nvPr/>
        </p:nvSpPr>
        <p:spPr>
          <a:xfrm>
            <a:off x="6276000" y="3391875"/>
            <a:ext cx="27684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 x* = 0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0"/>
          <p:cNvSpPr txBox="1"/>
          <p:nvPr>
            <p:ph type="title"/>
          </p:nvPr>
        </p:nvSpPr>
        <p:spPr>
          <a:xfrm>
            <a:off x="338975" y="320475"/>
            <a:ext cx="8430300" cy="4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Linearization of a Nonlinear System for Stability Analysis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" name="Google Shape;312;p40"/>
          <p:cNvSpPr txBox="1"/>
          <p:nvPr/>
        </p:nvSpPr>
        <p:spPr>
          <a:xfrm>
            <a:off x="179125" y="813175"/>
            <a:ext cx="6729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Compute the Jacobian Matrix </a:t>
            </a:r>
            <a:r>
              <a:rPr lang="en" sz="135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at </a:t>
            </a:r>
            <a:r>
              <a:rPr lang="en" sz="1350">
                <a:latin typeface="Times New Roman"/>
                <a:ea typeface="Times New Roman"/>
                <a:cs typeface="Times New Roman"/>
                <a:sym typeface="Times New Roman"/>
              </a:rPr>
              <a:t>(x</a:t>
            </a:r>
            <a:r>
              <a:rPr baseline="-25000" lang="en" sz="135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350">
                <a:latin typeface="Times New Roman"/>
                <a:ea typeface="Times New Roman"/>
                <a:cs typeface="Times New Roman"/>
                <a:sym typeface="Times New Roman"/>
              </a:rPr>
              <a:t>, x</a:t>
            </a:r>
            <a:r>
              <a:rPr baseline="-25000" lang="en" sz="135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35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" sz="1350">
                <a:latin typeface="Times New Roman"/>
                <a:ea typeface="Times New Roman"/>
                <a:cs typeface="Times New Roman"/>
                <a:sym typeface="Times New Roman"/>
              </a:rPr>
              <a:t> = (0, 0)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" name="Google Shape;313;p40"/>
          <p:cNvSpPr txBox="1"/>
          <p:nvPr/>
        </p:nvSpPr>
        <p:spPr>
          <a:xfrm>
            <a:off x="271600" y="2521550"/>
            <a:ext cx="146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900"/>
              </a:spcBef>
              <a:spcAft>
                <a:spcPts val="150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Jacobian Entries: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backgroundColor&quot;:&quot;#FFFFFF&quot;,&quot;code&quot;:&quot;$$\\ddot{x}\\,+\\,\\left|\\dot{x}\\right|\\,\\dot{x}\\,+\\,x\\,+\\,x^{3}\\,=\\,0$$&quot;,&quot;font&quot;:{&quot;family&quot;:&quot;Arial&quot;,&quot;color&quot;:&quot;#000000&quot;,&quot;size&quot;:18},&quot;id&quot;:&quot;23&quot;,&quot;backgroundColorModified&quot;:false,&quot;aid&quot;:null,&quot;type&quot;:&quot;$$&quot;,&quot;ts&quot;:1759746745773,&quot;cs&quot;:&quot;YAe/6zJk4Tf3hSrDephakw==&quot;,&quot;size&quot;:{&quot;width&quot;:303.75,&quot;height&quot;:32}}" id="314" name="Google Shape;31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2788" y="1087725"/>
            <a:ext cx="2363561" cy="24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\\dot{X}\\,=\\,f\\left(X\\right)\\,with\\,X\\,=\\,\\left[x_{1}\\,x_{2}\\right]^{T}$$&quot;,&quot;font&quot;:{&quot;size&quot;:21.5,&quot;color&quot;:&quot;#000000&quot;,&quot;family&quot;:&quot;Arial&quot;},&quot;aid&quot;:null,&quot;type&quot;:&quot;$$&quot;,&quot;backgroundColorModified&quot;:false,&quot;id&quot;:&quot;25&quot;,&quot;backgroundColor&quot;:&quot;#FFFFFF&quot;,&quot;ts&quot;:1759747261188,&quot;cs&quot;:&quot;DlXYRHpXQ3Q3plRMpKyt2Q==&quot;,&quot;size&quot;:{&quot;width&quot;:436,&quot;height&quot;:40.666666666666664}}" id="315" name="Google Shape;315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9900" y="1664375"/>
            <a:ext cx="4152900" cy="387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26&quot;,&quot;code&quot;:&quot;$$A\\,=\\,\\pdf{f}{x}\\,\\evaluateat_{\\left(0,0\\right)}^{}$$&quot;,&quot;backgroundColor&quot;:&quot;#FFFFFF&quot;,&quot;aid&quot;:null,&quot;font&quot;:{&quot;size&quot;:21.5,&quot;family&quot;:&quot;Arial&quot;,&quot;color&quot;:&quot;#000000&quot;},&quot;type&quot;:&quot;$$&quot;,&quot;backgroundColorModified&quot;:false,&quot;ts&quot;:1759747332424,&quot;cs&quot;:&quot;bhiUSXH9Z6E87tqhD6gqHw==&quot;,&quot;size&quot;:{&quot;width&quot;:197.83333333333334,&quot;height&quot;:80}}" id="316" name="Google Shape;316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8950" y="3070375"/>
            <a:ext cx="1884363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font&quot;:{&quot;size&quot;:21.5,&quot;color&quot;:&quot;#000000&quot;,&quot;family&quot;:&quot;Arial&quot;},&quot;backgroundColorModified&quot;:false,&quot;type&quot;:&quot;$$&quot;,&quot;code&quot;:&quot;$$A\\,=\\,\\begin{bmatrix}\n{\\pdf{f_{1}}{x_{1}}}&amp;{\\pdf{f_{1}}{x_{2}}}\\\\\n{\\pdf{f_{2}}{x_{1}}}&amp;{\\pdf{f_{2}}{x_{1}}}\\\\\n\\end{bmatrix}\\,=\\,\\begin{bmatrix}\n{0}&amp;{1}\\\\\n{-1}&amp;{0}\\\\\n\\end{bmatrix}$$&quot;,&quot;id&quot;:&quot;27&quot;,&quot;backgroundColor&quot;:&quot;#FFFFFF&quot;,&quot;ts&quot;:1759747480444,&quot;cs&quot;:&quot;gXOLpjI+VOujG1S+mYsstg==&quot;,&quot;size&quot;:{&quot;width&quot;:434.3333333333333,&quot;height&quot;:110.66666666666667}}" id="317" name="Google Shape;317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01650" y="2834625"/>
            <a:ext cx="5289226" cy="13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40"/>
          <p:cNvSpPr txBox="1"/>
          <p:nvPr/>
        </p:nvSpPr>
        <p:spPr>
          <a:xfrm>
            <a:off x="306200" y="1673400"/>
            <a:ext cx="146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900"/>
              </a:spcBef>
              <a:spcAft>
                <a:spcPts val="150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System in form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1"/>
          <p:cNvSpPr txBox="1"/>
          <p:nvPr>
            <p:ph type="title"/>
          </p:nvPr>
        </p:nvSpPr>
        <p:spPr>
          <a:xfrm>
            <a:off x="264850" y="542850"/>
            <a:ext cx="8430300" cy="4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Linearization of a Nonlinear System for Stability Analysis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font&quot;:{&quot;color&quot;:&quot;#000000&quot;,&quot;family&quot;:&quot;Arial&quot;,&quot;size&quot;:21.5},&quot;aid&quot;:null,&quot;type&quot;:&quot;$$&quot;,&quot;code&quot;:&quot;$$f\\left(x,u\\right)\\,=\\,f\\left(0,0\\right)\\,+\\,\\pdf{f}{x}\\evaluateat_{x=0,u=0}^{x}\\,+\\,\\,\\pdf{f}{u}\\evaluateat_{x=0,u=0}^{u}+\\,Higher\\,order\\,terms$$&quot;,&quot;id&quot;:&quot;28&quot;,&quot;backgroundColorModified&quot;:false,&quot;backgroundColor&quot;:&quot;#FFFFFF&quot;,&quot;ts&quot;:1759747823027,&quot;cs&quot;:&quot;z/srMcgJK24nRo+wFT4GJQ==&quot;,&quot;size&quot;:{&quot;width&quot;:1023,&quot;height&quot;:79}}" id="324" name="Google Shape;32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113" y="1527325"/>
            <a:ext cx="8119776" cy="627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backgroundColor&quot;:&quot;#FFFFFF&quot;,&quot;code&quot;:&quot;$$f1:\\,\\dot{x\\,}_{1}\\,=\\,x_{2}$$&quot;,&quot;backgroundColorModified&quot;:false,&quot;id&quot;:&quot;29&quot;,&quot;font&quot;:{&quot;size&quot;:21.5,&quot;color&quot;:&quot;#000000&quot;,&quot;family&quot;:&quot;Arial&quot;},&quot;type&quot;:&quot;$$&quot;,&quot;ts&quot;:1759747911897,&quot;cs&quot;:&quot;uKxXJ8ZRTSPGSYnwQHMCxA==&quot;,&quot;size&quot;:{&quot;width&quot;:193.83333333333334,&quot;height&quot;:30.666666666666668}}" id="325" name="Google Shape;32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0600" y="2571750"/>
            <a:ext cx="1846263" cy="292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aid&quot;:null,&quot;backgroundColor&quot;:&quot;#FFFFFF&quot;,&quot;id&quot;:&quot;30&quot;,&quot;code&quot;:&quot;$$f_{2\\,}:\\,x_{2}\\,=\\,-\\left|x_{2}\\right|x_{2}\\,-\\,x_{1}\\,-\\,x_{1}^{3}$$&quot;,&quot;font&quot;:{&quot;color&quot;:&quot;#000000&quot;,&quot;size&quot;:21.5,&quot;family&quot;:&quot;Arial&quot;},&quot;type&quot;:&quot;$$&quot;,&quot;ts&quot;:1759748146980,&quot;cs&quot;:&quot;+849rr2POXYRsOwqjc//MA==&quot;,&quot;size&quot;:{&quot;width&quot;:447,&quot;height&quot;:38.333333333333336}}" id="326" name="Google Shape;326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19100" y="2942350"/>
            <a:ext cx="4257675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31&quot;,&quot;aid&quot;:null,&quot;code&quot;:&quot;$$\\dot{x_{2}}\\,=\\,-x_{1}\\,\\,-\\,0\\,.\\,x_{2}$$&quot;,&quot;type&quot;:&quot;$$&quot;,&quot;backgroundColorModified&quot;:false,&quot;backgroundColor&quot;:&quot;#FFFFFF&quot;,&quot;font&quot;:{&quot;size&quot;:21.5,&quot;color&quot;:&quot;#000000&quot;,&quot;family&quot;:&quot;Arial&quot;},&quot;ts&quot;:1759748074544,&quot;cs&quot;:&quot;xR0uVRc7iPIzEZzQm6G5eA==&quot;,&quot;size&quot;:{&quot;width&quot;:281,&quot;height&quot;:27.5}}" id="327" name="Google Shape;327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37300" y="3690300"/>
            <a:ext cx="2128201" cy="20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2"/>
          <p:cNvSpPr txBox="1"/>
          <p:nvPr>
            <p:ph type="title"/>
          </p:nvPr>
        </p:nvSpPr>
        <p:spPr>
          <a:xfrm>
            <a:off x="338975" y="320475"/>
            <a:ext cx="8430300" cy="4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Linearization of a Nonlinear System for Stability Analysis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" name="Google Shape;333;p42"/>
          <p:cNvSpPr txBox="1"/>
          <p:nvPr/>
        </p:nvSpPr>
        <p:spPr>
          <a:xfrm>
            <a:off x="179125" y="813175"/>
            <a:ext cx="417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Eigenvalue Analysis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" name="Google Shape;334;p42"/>
          <p:cNvSpPr txBox="1"/>
          <p:nvPr/>
        </p:nvSpPr>
        <p:spPr>
          <a:xfrm>
            <a:off x="179125" y="13022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Characteristic equation: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code&quot;:&quot;$$\\det\\left(\\lambda I\\,-\\,A\\right)\\,=\\,\\lambda^{2}\\,-\\,\\lambda\\,+\\,1\\,=\\,0$$&quot;,&quot;font&quot;:{&quot;family&quot;:&quot;Arial&quot;,&quot;size&quot;:21.5,&quot;color&quot;:&quot;#000000&quot;},&quot;backgroundColorModified&quot;:false,&quot;backgroundColor&quot;:&quot;#FFFFFF&quot;,&quot;aid&quot;:null,&quot;type&quot;:&quot;$$&quot;,&quot;id&quot;:&quot;32&quot;,&quot;ts&quot;:1759748292004,&quot;cs&quot;:&quot;sck31ZtrhnqXSDjbg1azag==&quot;,&quot;size&quot;:{&quot;width&quot;:495,&quot;height&quot;:38.5}}" id="335" name="Google Shape;33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7475" y="1302275"/>
            <a:ext cx="4714875" cy="3667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backgroundColor&quot;:&quot;#FFFFFF&quot;,&quot;font&quot;:{&quot;size&quot;:21.5,&quot;color&quot;:&quot;#000000&quot;,&quot;family&quot;:&quot;Arial&quot;},&quot;id&quot;:&quot;33&quot;,&quot;aid&quot;:null,&quot;code&quot;:&quot;$$\\lambda_{1,2}\\,=\\,\\dfrac{1}{2}\\,\\pm\\,\\dfrac{{\\sqrt[]{3}}}{2}i$$&quot;,&quot;type&quot;:&quot;$$&quot;,&quot;ts&quot;:1759748377016,&quot;cs&quot;:&quot;HgiF2/u3HTby+32X9wTgnQ==&quot;,&quot;size&quot;:{&quot;width&quot;:261.79999999999995,&quot;height&quot;:75.79999999999997}}" id="336" name="Google Shape;33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0300" y="2504375"/>
            <a:ext cx="2493645" cy="72199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2"/>
          <p:cNvSpPr txBox="1"/>
          <p:nvPr/>
        </p:nvSpPr>
        <p:spPr>
          <a:xfrm>
            <a:off x="4016100" y="3854738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900"/>
              </a:spcBef>
              <a:spcAft>
                <a:spcPts val="150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Equilibrium at (0,0) is unstable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p42"/>
          <p:cNvSpPr txBox="1"/>
          <p:nvPr/>
        </p:nvSpPr>
        <p:spPr>
          <a:xfrm>
            <a:off x="338975" y="2026588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Stability Conclusion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3"/>
          <p:cNvSpPr txBox="1"/>
          <p:nvPr>
            <p:ph type="title"/>
          </p:nvPr>
        </p:nvSpPr>
        <p:spPr>
          <a:xfrm>
            <a:off x="338975" y="320475"/>
            <a:ext cx="8430300" cy="4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 Main Functions of a Lyapunov Candidate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" name="Google Shape;344;p43"/>
          <p:cNvSpPr txBox="1"/>
          <p:nvPr/>
        </p:nvSpPr>
        <p:spPr>
          <a:xfrm>
            <a:off x="511500" y="1241800"/>
            <a:ext cx="7358700" cy="2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AutoNum type="arabicPeriod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Energy 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interpretation: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Any scalar function that mirrors system energy.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AutoNum type="arabicPeriod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Sum of squares Method: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AutoNum type="arabicPeriod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General form: </a:t>
            </a:r>
            <a:b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AutoNum type="arabicPeriod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Linear system optimal choice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5" name="Google Shape;345;p43"/>
          <p:cNvSpPr txBox="1"/>
          <p:nvPr/>
        </p:nvSpPr>
        <p:spPr>
          <a:xfrm>
            <a:off x="511500" y="865425"/>
            <a:ext cx="735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Choosing V(x):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id&quot;:&quot;45&quot;,&quot;aid&quot;:null,&quot;font&quot;:{&quot;color&quot;:&quot;#000000&quot;,&quot;size&quot;:16,&quot;family&quot;:&quot;Arial&quot;},&quot;backgroundColorModified&quot;:false,&quot;backgroundColor&quot;:&quot;#FFFFFF&quot;,&quot;type&quot;:&quot;$$&quot;,&quot;code&quot;:&quot;$$V\\left(x\\right)\\,=\\,\\dfrac{1}{2}x^{T}\\,x$$&quot;,&quot;ts&quot;:1759760598456,&quot;cs&quot;:&quot;YmM7/5H+a5GuvZK4HXy0HQ==&quot;,&quot;size&quot;:{&quot;width&quot;:167.33333333333334,&quot;height&quot;:50.833333333333336}}" id="346" name="Google Shape;34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9900" y="1698475"/>
            <a:ext cx="2021900" cy="614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type&quot;:&quot;$$&quot;,&quot;aid&quot;:null,&quot;id&quot;:&quot;46&quot;,&quot;code&quot;:&quot;$$V\\left(x\\right)\\,=\\,F\\,\\left(x\\right)^{T}\\,F\\,\\left(x\\right)$$&quot;,&quot;backgroundColor&quot;:&quot;#FFFFFF&quot;,&quot;font&quot;:{&quot;color&quot;:&quot;#000000&quot;,&quot;size&quot;:16,&quot;family&quot;:&quot;Arial&quot;},&quot;ts&quot;:1759760683648,&quot;cs&quot;:&quot;WNXev5CDKXct/vtfVoOisg==&quot;,&quot;size&quot;:{&quot;width&quot;:231.79999999999995,&quot;height&quot;:30.199999999999992}}" id="347" name="Google Shape;347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7100" y="2427925"/>
            <a:ext cx="3099427" cy="403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code&quot;:&quot;$$V\\,=\\,x^{T}\\,P\\,x$$&quot;,&quot;font&quot;:{&quot;size&quot;:16,&quot;family&quot;:&quot;Arial&quot;,&quot;color&quot;:&quot;#000000&quot;},&quot;backgroundColor&quot;:&quot;#FFFFFF&quot;,&quot;type&quot;:&quot;$$&quot;,&quot;id&quot;:&quot;47&quot;,&quot;backgroundColorModified&quot;:false,&quot;ts&quot;:1759760727668,&quot;cs&quot;:&quot;NfCvOWBCjxStl6Q/GEI6/Q==&quot;,&quot;size&quot;:{&quot;width&quot;:128.83333333333334,&quot;height&quot;:23}}" id="348" name="Google Shape;348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3700" y="2946950"/>
            <a:ext cx="1790384" cy="31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4"/>
          <p:cNvSpPr txBox="1"/>
          <p:nvPr>
            <p:ph type="title"/>
          </p:nvPr>
        </p:nvSpPr>
        <p:spPr>
          <a:xfrm>
            <a:off x="338975" y="320475"/>
            <a:ext cx="8430300" cy="4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Designing a Lyapunov-Based Controller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4" name="Google Shape;354;p44"/>
          <p:cNvSpPr txBox="1"/>
          <p:nvPr/>
        </p:nvSpPr>
        <p:spPr>
          <a:xfrm>
            <a:off x="338975" y="953375"/>
            <a:ext cx="735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Energy interpretation—Any scalar function that mirrors system energy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backgroundColor&quot;:&quot;#FFFFFF&quot;,&quot;type&quot;:&quot;$$&quot;,&quot;font&quot;:{&quot;family&quot;:&quot;Arial&quot;,&quot;color&quot;:&quot;#000000&quot;,&quot;size&quot;:21.5},&quot;id&quot;:&quot;35&quot;,&quot;backgroundColorModified&quot;:false,&quot;aid&quot;:null,&quot;code&quot;:&quot;$$\\dot{X\\,\\,\\,}=\\,f\\left(x,u\\right)$$&quot;,&quot;ts&quot;:1759758140480,&quot;cs&quot;:&quot;oD7zutYL4xzCtPJqM8HxHw==&quot;,&quot;size&quot;:{&quot;width&quot;:195.66666666666666,&quot;height&quot;:39}}" id="355" name="Google Shape;35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3125" y="1394050"/>
            <a:ext cx="186372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size&quot;:21.5,&quot;color&quot;:&quot;#000000&quot;,&quot;family&quot;:&quot;Arial&quot;},&quot;id&quot;:&quot;36&quot;,&quot;type&quot;:&quot;$$&quot;,&quot;backgroundColor&quot;:&quot;#FFFFFF&quot;,&quot;aid&quot;:null,&quot;code&quot;:&quot;$$u^{\\star}\\left(t\\right)\\,:\\,x\\left(0\\right)\\hookrightarrow x_{d}$$&quot;,&quot;backgroundColorModified&quot;:false,&quot;ts&quot;:1759758235795,&quot;cs&quot;:&quot;VnQbdiEKOhp/CowRBG7S/w==&quot;,&quot;size&quot;:{&quot;width&quot;:273.5,&quot;height&quot;:34}}" id="356" name="Google Shape;356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3225" y="2076925"/>
            <a:ext cx="2605088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9325" y="1683925"/>
            <a:ext cx="3648075" cy="239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5"/>
          <p:cNvSpPr txBox="1"/>
          <p:nvPr>
            <p:ph type="title"/>
          </p:nvPr>
        </p:nvSpPr>
        <p:spPr>
          <a:xfrm>
            <a:off x="338975" y="320475"/>
            <a:ext cx="8430300" cy="4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Designing a Lyapunov-Based Controller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3" name="Google Shape;363;p45"/>
          <p:cNvSpPr txBox="1"/>
          <p:nvPr/>
        </p:nvSpPr>
        <p:spPr>
          <a:xfrm>
            <a:off x="338975" y="953375"/>
            <a:ext cx="735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Energy interpretation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—Any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scalar function that mirrors system energy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backgroundColor&quot;:&quot;#FFFFFF&quot;,&quot;font&quot;:{&quot;size&quot;:21.5,&quot;family&quot;:&quot;Arial&quot;,&quot;color&quot;:&quot;#000000&quot;},&quot;type&quot;:&quot;$$&quot;,&quot;id&quot;:&quot;37&quot;,&quot;aid&quot;:null,&quot;backgroundColorModified&quot;:false,&quot;code&quot;:&quot;$$\\ddot{x}\\,+\\,\\dot{x}^{2}\\,+\\,x^{3}\\,+\\,x^{3}\\,=\\,u$$&quot;,&quot;ts&quot;:1759758415529,&quot;cs&quot;:&quot;viAfG1kCFrvEHZpjs6wvpg==&quot;,&quot;size&quot;:{&quot;width&quot;:351.6666666666667,&quot;height&quot;:32.666666666666664}}" id="364" name="Google Shape;36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200" y="1582675"/>
            <a:ext cx="3349625" cy="311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color&quot;:&quot;#000000&quot;,&quot;size&quot;:21.5,&quot;family&quot;:&quot;Arial&quot;},&quot;backgroundColorModified&quot;:false,&quot;backgroundColor&quot;:&quot;#FFFFFF&quot;,&quot;type&quot;:&quot;$$&quot;,&quot;aid&quot;:null,&quot;id&quot;:&quot;38&quot;,&quot;code&quot;:&quot;$$t\\,\\hookrightarrow\\,\\infty\\,;\\,x\\hookrightarrow0$$&quot;,&quot;ts&quot;:1759758834826,&quot;cs&quot;:&quot;df8xH3rmTxtZWgop08nI9Q==&quot;,&quot;size&quot;:{&quot;width&quot;:230.40000000000006,&quot;height&quot;:29.199999999999992}}" id="365" name="Google Shape;365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5950" y="2432688"/>
            <a:ext cx="2194560" cy="2781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font&quot;:{&quot;color&quot;:&quot;#000000&quot;,&quot;family&quot;:&quot;Arial&quot;,&quot;size&quot;:21.5},&quot;id&quot;:&quot;39&quot;,&quot;backgroundColor&quot;:&quot;#FFFFFF&quot;,&quot;backgroundColorModified&quot;:false,&quot;aid&quot;:null,&quot;code&quot;:&quot;$$V\\left(x\\right)\\,=\\,\\dfrac{1}{2}\\dot{X}^{2}\\,+\\,\\dfrac{1}{4}X^{4}$$&quot;,&quot;ts&quot;:1759758934286,&quot;cs&quot;:&quot;ZCKbIt0ml970RYRQa8wojA==&quot;,&quot;size&quot;:{&quot;width&quot;:334.75,&quot;height&quot;:68.25}}" id="366" name="Google Shape;366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33450" y="3588275"/>
            <a:ext cx="3188494" cy="650081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45"/>
          <p:cNvSpPr txBox="1"/>
          <p:nvPr/>
        </p:nvSpPr>
        <p:spPr>
          <a:xfrm>
            <a:off x="4122000" y="1582675"/>
            <a:ext cx="461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Finding u that is stable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8" name="Google Shape;368;p45"/>
          <p:cNvSpPr txBox="1"/>
          <p:nvPr/>
        </p:nvSpPr>
        <p:spPr>
          <a:xfrm>
            <a:off x="765275" y="2918700"/>
            <a:ext cx="461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</a:t>
            </a: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</a:t>
            </a: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Lyapunov framework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6"/>
          <p:cNvSpPr txBox="1"/>
          <p:nvPr>
            <p:ph type="title"/>
          </p:nvPr>
        </p:nvSpPr>
        <p:spPr>
          <a:xfrm>
            <a:off x="338975" y="320475"/>
            <a:ext cx="8430300" cy="4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Designing a Lyapunov-Based Controller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backgroundColor&quot;:&quot;#FFFFFF&quot;,&quot;aid&quot;:null,&quot;font&quot;:{&quot;family&quot;:&quot;Arial&quot;,&quot;size&quot;:21.5,&quot;color&quot;:&quot;#000000&quot;},&quot;type&quot;:&quot;$$&quot;,&quot;backgroundColorModified&quot;:false,&quot;code&quot;:&quot;$$\\dot{V}\\left(x\\right)\\,=\\,\\ddot{X}\\,\\dot{X}\\,+\\,\\dot{X}\\,X^{3}$$&quot;,&quot;id&quot;:&quot;40&quot;,&quot;ts&quot;:1759758996205,&quot;cs&quot;:&quot;C1G6LsGmN/qeDshaHZubfQ==&quot;,&quot;size&quot;:{&quot;width&quot;:323.25,&quot;height&quot;:39.25}}" id="374" name="Google Shape;37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0500" y="931650"/>
            <a:ext cx="3078956" cy="3738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=\\,\\dot{X}\\,\\left(\\ddot{X}\\,+\\,X^{3}\\right)$$&quot;,&quot;font&quot;:{&quot;size&quot;:21.5,&quot;color&quot;:&quot;#000000&quot;,&quot;family&quot;:&quot;Arial&quot;},&quot;aid&quot;:null,&quot;type&quot;:&quot;$$&quot;,&quot;id&quot;:&quot;41&quot;,&quot;backgroundColorModified&quot;:false,&quot;backgroundColor&quot;:&quot;#FFFFFF&quot;,&quot;ts&quot;:1759759036917,&quot;cs&quot;:&quot;+6uYB8ofU3Sm1aQyo+Y4vg==&quot;,&quot;size&quot;:{&quot;width&quot;:239.40000000000006,&quot;height&quot;:60.600000000000016}}" id="375" name="Google Shape;375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8600" y="1434275"/>
            <a:ext cx="2280285" cy="5772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font&quot;:{&quot;family&quot;:&quot;Arial&quot;,&quot;color&quot;:&quot;#000000&quot;,&quot;size&quot;:21.5},&quot;aid&quot;:null,&quot;id&quot;:&quot;42&quot;,&quot;backgroundColor&quot;:&quot;#FFFFFF&quot;,&quot;code&quot;:&quot;$$=\\,\\dot{X}\\,\\left(u^{\\star}\\,-\\,\\dot{X}^{2}\\,-\\,X^{2}\\right)\\,\\leq\\,0\\,\\hookrightarrow$$&quot;,&quot;backgroundColorModified&quot;:false,&quot;ts&quot;:1759759171264,&quot;cs&quot;:&quot;dlcDsIL7NQmXkfnvC36EGw==&quot;,&quot;size&quot;:{&quot;width&quot;:472,&quot;height&quot;:60.666666666666664}}" id="376" name="Google Shape;376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4675" y="2140275"/>
            <a:ext cx="4495800" cy="577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id&quot;:&quot;43&quot;,&quot;backgroundColor&quot;:&quot;#FFFFFF&quot;,&quot;type&quot;:&quot;$$&quot;,&quot;backgroundColorModified&quot;:false,&quot;code&quot;:&quot;$$u^{\\star}\\,=\\,\\dot{X}^{2}\\,+\\,X^{2}\\,-\\,\\dot{X}\\hookrightarrow$$&quot;,&quot;font&quot;:{&quot;size&quot;:21.5,&quot;family&quot;:&quot;Arial&quot;,&quot;color&quot;:&quot;#000000&quot;},&quot;ts&quot;:1759760057203,&quot;cs&quot;:&quot;2CsLnOfDUW5sB3apdE/Aqg==&quot;,&quot;size&quot;:{&quot;width&quot;:358.3333333333333,&quot;height&quot;:33.333333333333336}}" id="377" name="Google Shape;377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38200" y="2835676"/>
            <a:ext cx="3413125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aid&quot;:null,&quot;code&quot;:&quot;$$\\ddot{X}\\,+\\,\\dot{X}\\,+X^{3}\\,=\\,0$$&quot;,&quot;id&quot;:&quot;44&quot;,&quot;backgroundColorModified&quot;:false,&quot;type&quot;:&quot;$$&quot;,&quot;font&quot;:{&quot;family&quot;:&quot;Arial&quot;,&quot;size&quot;:21.5,&quot;color&quot;:&quot;#000000&quot;},&quot;ts&quot;:1759759433808,&quot;cs&quot;:&quot;WJAqUytJSPP8VVAUEe0yag==&quot;,&quot;size&quot;:{&quot;width&quot;:272.5,&quot;height&quot;:33.5}}" id="378" name="Google Shape;378;p4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76438" y="3823925"/>
            <a:ext cx="2595563" cy="319088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46"/>
          <p:cNvSpPr txBox="1"/>
          <p:nvPr/>
        </p:nvSpPr>
        <p:spPr>
          <a:xfrm>
            <a:off x="894675" y="3362225"/>
            <a:ext cx="461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 1 and 2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" name="Google Shape;380;p46"/>
          <p:cNvSpPr txBox="1"/>
          <p:nvPr/>
        </p:nvSpPr>
        <p:spPr>
          <a:xfrm>
            <a:off x="4978125" y="3885325"/>
            <a:ext cx="327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Globally Asymptotically Stable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7"/>
          <p:cNvSpPr txBox="1"/>
          <p:nvPr>
            <p:ph type="title"/>
          </p:nvPr>
        </p:nvSpPr>
        <p:spPr>
          <a:xfrm>
            <a:off x="338975" y="320475"/>
            <a:ext cx="8430300" cy="4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Lyapunov-Based Holonomic Robot Control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backgroundColorModified&quot;:false,&quot;type&quot;:&quot;$$&quot;,&quot;aid&quot;:null,&quot;code&quot;:&quot;$$M\\left(q\\right)​\\ddot{q}​+C\\left(q,\\dot{q}\\right)\\dot{q}​​+G\\left(q\\right)​=\\tau$$&quot;,&quot;backgroundColor&quot;:&quot;#FFFFFF&quot;,&quot;font&quot;:{&quot;size&quot;:30.5,&quot;color&quot;:&quot;#000000&quot;,&quot;family&quot;:&quot;Arial&quot;},&quot;id&quot;:&quot;25&quot;,&quot;ts&quot;:1759761954406,&quot;cs&quot;:&quot;6Z3ChnZ/Tv7ZE91dYHBgQA==&quot;,&quot;size&quot;:{&quot;width&quot;:599.5,&quot;height&quot;:48}}" id="386" name="Google Shape;38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4784" y="917400"/>
            <a:ext cx="5710238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code&quot;:&quot;$$\\tau\\,=\\,-kpq\\,-kd\\,\\dot{q}\\,+\\,G\\left(q\\right)$$&quot;,&quot;aid&quot;:null,&quot;backgroundColorModified&quot;:false,&quot;id&quot;:&quot;48&quot;,&quot;font&quot;:{&quot;size&quot;:30.5,&quot;color&quot;:&quot;#000000&quot;,&quot;family&quot;:&quot;Arial&quot;},&quot;backgroundColor&quot;:&quot;#FFFFFF&quot;,&quot;ts&quot;:1759762049161,&quot;cs&quot;:&quot;Ok3hsADBLVbMaPDHG+m67Q==&quot;,&quot;size&quot;:{&quot;width&quot;:532,&quot;height&quot;:48}}" id="387" name="Google Shape;38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6250" y="1906775"/>
            <a:ext cx="50673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7"/>
          <p:cNvSpPr txBox="1"/>
          <p:nvPr/>
        </p:nvSpPr>
        <p:spPr>
          <a:xfrm>
            <a:off x="1020175" y="2689225"/>
            <a:ext cx="461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kₚ, k_d are diagonal positive-definite gain matrices</a:t>
            </a:r>
            <a:endParaRPr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9" name="Google Shape;389;p47"/>
          <p:cNvSpPr txBox="1"/>
          <p:nvPr/>
        </p:nvSpPr>
        <p:spPr>
          <a:xfrm>
            <a:off x="1020175" y="3185950"/>
            <a:ext cx="4614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M(q) = Positive </a:t>
            </a:r>
            <a:r>
              <a:rPr lang="en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definite.</a:t>
            </a:r>
            <a:endParaRPr sz="16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M* - 2C = positive semidefinite. It is skew symmetric </a:t>
            </a:r>
            <a:endParaRPr sz="16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8"/>
          <p:cNvSpPr txBox="1"/>
          <p:nvPr>
            <p:ph type="title"/>
          </p:nvPr>
        </p:nvSpPr>
        <p:spPr>
          <a:xfrm>
            <a:off x="338975" y="320475"/>
            <a:ext cx="8430300" cy="4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Lyapunov-Based Holonomic Robot Control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backgroundColorModified&quot;:false,&quot;code&quot;:&quot;$$V\\,=\\,\\dfrac{1}{2}\\dot{q}^{T}\\,M\\left(q\\right)\\,\\dot{q}\\,+\\,\\int_{0}^{2}\\left(k_{p}\\,q\\right)^{T}\\,dq\\,$$&quot;,&quot;type&quot;:&quot;$$&quot;,&quot;aid&quot;:null,&quot;id&quot;:&quot;49&quot;,&quot;font&quot;:{&quot;size&quot;:14,&quot;color&quot;:&quot;#000000&quot;,&quot;family&quot;:&quot;Arial&quot;},&quot;backgroundColor&quot;:&quot;#FFFFFF&quot;,&quot;ts&quot;:1759762417599,&quot;cs&quot;:&quot;APFp85ybFqqZMwcPJQ9JfQ==&quot;,&quot;size&quot;:{&quot;width&quot;:327,&quot;height&quot;:54.25}}" id="395" name="Google Shape;39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1188" y="1241775"/>
            <a:ext cx="3114675" cy="5167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id&quot;:&quot;50&quot;,&quot;backgroundColorModified&quot;:false,&quot;font&quot;:{&quot;family&quot;:&quot;Arial&quot;,&quot;color&quot;:&quot;#000000&quot;,&quot;size&quot;:14},&quot;type&quot;:&quot;$$&quot;,&quot;code&quot;:&quot;$$V\\left(0\\right)\\,=\\,0,\\,x\\neq 0,\\,V\\left(x\\right)&gt;\\,0$$&quot;,&quot;aid&quot;:null,&quot;ts&quot;:1759762536805,&quot;cs&quot;:&quot;AIl08ssHEhGFauzMMQwySw==&quot;,&quot;size&quot;:{&quot;width&quot;:267.40000000000003,&quot;height&quot;:22}}" id="396" name="Google Shape;396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050" y="2851025"/>
            <a:ext cx="254698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code&quot;:&quot;$$x\\,=\\,\\begin{bmatrix}\n{q}\\\\\n{\\dot{q}}\\\\\n\\end{bmatrix}$$&quot;,&quot;aid&quot;:null,&quot;type&quot;:&quot;$$&quot;,&quot;backgroundColor&quot;:&quot;#FFFFFF&quot;,&quot;font&quot;:{&quot;color&quot;:&quot;#000000&quot;,&quot;size&quot;:14,&quot;family&quot;:&quot;Arial&quot;},&quot;id&quot;:&quot;51&quot;,&quot;ts&quot;:1759763961049,&quot;cs&quot;:&quot;5Xjq35Kvn8DWqTR+qdc1wg==&quot;,&quot;size&quot;:{&quot;width&quot;:76.33333333333333,&quot;height&quot;:52.66666666666663}}" id="397" name="Google Shape;397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4150" y="3337664"/>
            <a:ext cx="727075" cy="501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color&quot;:&quot;#000000&quot;,&quot;family&quot;:&quot;Arial&quot;,&quot;size&quot;:14},&quot;code&quot;:&quot;$$\\dot{V}=\\,\\dfrac{1}{2}\\ddot{q}^{T}\\,M\\left(q\\right)\\,\\dot{q}\\,+\\,\\dfrac{1}{2}\\dot{q}\\,^{T}\\,\\dot{M}\\left(q\\right)\\,\\dot{q}\\,+\\,\\dfrac{1}{2}\\,\\dot{q}^{T}\\,M\\left(q\\right)\\,\\ddot{q}\\,+\\,\\left(k_{d}q\\right)^{T}\\dot{q}$$&quot;,&quot;type&quot;:&quot;$$&quot;,&quot;backgroundColorModified&quot;:false,&quot;aid&quot;:null,&quot;id&quot;:&quot;52&quot;,&quot;backgroundColor&quot;:&quot;#FFFFFF&quot;,&quot;ts&quot;:1759762916139,&quot;cs&quot;:&quot;y31oFnxVbNt48VQOTWH9IQ==&quot;,&quot;size&quot;:{&quot;width&quot;:575.5,&quot;height&quot;:44.5}}" id="398" name="Google Shape;398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07075" y="1953188"/>
            <a:ext cx="5481638" cy="4238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53&quot;,&quot;backgroundColor&quot;:&quot;#FFFFFF&quot;,&quot;code&quot;:&quot;$$\\ddot{q}\\,=\\,-\\,M\\,^{-1}\\,\\left[C\\,\\dot{q}\\,+\\,k_{d}\\,\\dot{q}\\,+\\,k_{p}\\,q\\right]$$&quot;,&quot;type&quot;:&quot;$$&quot;,&quot;aid&quot;:null,&quot;backgroundColorModified&quot;:false,&quot;font&quot;:{&quot;color&quot;:&quot;#000000&quot;,&quot;size&quot;:14,&quot;family&quot;:&quot;Arial&quot;},&quot;ts&quot;:1759762999526,&quot;cs&quot;:&quot;406r7ZbsHlpVcHeOK64Gqw==&quot;,&quot;size&quot;:{&quot;width&quot;:300.25,&quot;height&quot;:25.75}}" id="399" name="Google Shape;399;p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0050" y="4030463"/>
            <a:ext cx="2859881" cy="2452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9"/>
          <p:cNvSpPr txBox="1"/>
          <p:nvPr>
            <p:ph type="title"/>
          </p:nvPr>
        </p:nvSpPr>
        <p:spPr>
          <a:xfrm>
            <a:off x="338975" y="320475"/>
            <a:ext cx="8430300" cy="4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Lyapunov-Based Holonomic Robot Control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backgroundColorModified&quot;:false,&quot;backgroundColor&quot;:&quot;#FFFFFF&quot;,&quot;type&quot;:&quot;$$&quot;,&quot;aid&quot;:null,&quot;id&quot;:&quot;54&quot;,&quot;font&quot;:{&quot;size&quot;:14,&quot;family&quot;:&quot;Arial&quot;,&quot;color&quot;:&quot;#000000&quot;},&quot;code&quot;:&quot;$$q^{T}\\,\\left(-C\\,\\dot{q\\,}\\,-k_{p}q\\,-\\,k_{d}\\,\\dot{q}\\right)\\,+\\,k_{p}q^{T}\\dot{q}\\,+\\,\\dfrac{1}{2}\\,\\dot{q\\,}^{T}\\,M\\,\\dot{q}$$&quot;,&quot;ts&quot;:1759763380647,&quot;cs&quot;:&quot;bOeZalRcdET8RQNH7aCzVg==&quot;,&quot;size&quot;:{&quot;width&quot;:443.6666666666667,&quot;height&quot;:44.666666666666664}}" id="405" name="Google Shape;40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7252" y="1097575"/>
            <a:ext cx="5066724" cy="51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backgroundColor&quot;:&quot;#FFFFFF&quot;,&quot;font&quot;:{&quot;color&quot;:&quot;#000000&quot;,&quot;family&quot;:&quot;Arial&quot;,&quot;size&quot;:14},&quot;code&quot;:&quot;$$\\dot{V}\\,\\left(x\\right)\\,=\\,\\dot{q\\,}^{T}\\,\\left(\\dot{M\\,\\left(q\\right)}-2C\\,\\left(q\\,-\\,\\dot{q}\\right)\\right)\\,\\dot{q}\\,-\\,\\dot{q}^{T}\\,k_{d}\\,\\dot{q}$$&quot;,&quot;id&quot;:&quot;55&quot;,&quot;backgroundColorModified&quot;:false,&quot;aid&quot;:null,&quot;ts&quot;:1759763837669,&quot;cs&quot;:&quot;IjdutZsbdUvDbXSy72ijUQ==&quot;,&quot;size&quot;:{&quot;width&quot;:450,&quot;height&quot;:39.666666666666664}}" id="406" name="Google Shape;406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8425" y="1862418"/>
            <a:ext cx="4286250" cy="377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56&quot;,&quot;type&quot;:&quot;$$&quot;,&quot;font&quot;:{&quot;family&quot;:&quot;Arial&quot;,&quot;size&quot;:14,&quot;color&quot;:&quot;#000000&quot;},&quot;aid&quot;:null,&quot;backgroundColor&quot;:&quot;#FFFFFF&quot;,&quot;code&quot;:&quot;$$\\dot{V}\\left(x\\right)\\,=\\,\\dot{q}\\,^{T}\\,K_{d\\,}\\,\\dot{q}\\,\\leq0$$&quot;,&quot;backgroundColorModified&quot;:false,&quot;ts&quot;:1759763650681,&quot;cs&quot;:&quot;V6J929zrItHco5Tozesfdw==&quot;,&quot;size&quot;:{&quot;width&quot;:204.5,&quot;height&quot;:25.5}}" id="407" name="Google Shape;407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49100" y="2450300"/>
            <a:ext cx="2422899" cy="3021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V\\left(0\\right)\\,=\\,\\dot{q}\\,,\\,q\\,=\\,0$$&quot;,&quot;font&quot;:{&quot;color&quot;:&quot;#000000&quot;,&quot;family&quot;:&quot;Arial&quot;,&quot;size&quot;:14},&quot;id&quot;:&quot;57&quot;,&quot;backgroundColorModified&quot;:false,&quot;backgroundColor&quot;:&quot;#FFFFFF&quot;,&quot;type&quot;:&quot;$$&quot;,&quot;aid&quot;:null,&quot;ts&quot;:1759763685621,&quot;cs&quot;:&quot;cNEo4flDPDgVcAmnZsRnuA==&quot;,&quot;size&quot;:{&quot;width&quot;:167.66666666666666,&quot;height&quot;:22}}" id="408" name="Google Shape;408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62038" y="3081025"/>
            <a:ext cx="15970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49"/>
          <p:cNvSpPr txBox="1"/>
          <p:nvPr/>
        </p:nvSpPr>
        <p:spPr>
          <a:xfrm>
            <a:off x="2355800" y="3446525"/>
            <a:ext cx="273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Globally asymptotically stable</a:t>
            </a:r>
            <a:endParaRPr sz="16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YU Elegant">
  <a:themeElements>
    <a:clrScheme name="Simple Light">
      <a:dk1>
        <a:srgbClr val="57068C"/>
      </a:dk1>
      <a:lt1>
        <a:srgbClr val="FFFFFF"/>
      </a:lt1>
      <a:dk2>
        <a:srgbClr val="333333"/>
      </a:dk2>
      <a:lt2>
        <a:srgbClr val="E3DFE9"/>
      </a:lt2>
      <a:accent1>
        <a:srgbClr val="9A6ABA"/>
      </a:accent1>
      <a:accent2>
        <a:srgbClr val="330662"/>
      </a:accent2>
      <a:accent3>
        <a:srgbClr val="007E8A"/>
      </a:accent3>
      <a:accent4>
        <a:srgbClr val="E97300"/>
      </a:accent4>
      <a:accent5>
        <a:srgbClr val="799A05"/>
      </a:accent5>
      <a:accent6>
        <a:srgbClr val="C50F3C"/>
      </a:accent6>
      <a:hlink>
        <a:srgbClr val="57068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